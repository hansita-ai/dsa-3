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AF0306-AEED-4865-A9AC-B692D5EA2671}" v="186" dt="2026-08-28T03:28:58.9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C8247C9-B951-40FA-A935-BA42683BB14A}" type="datetimeFigureOut">
              <a:t>8/27/2026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FB181D8-CEE8-442F-8B07-03985D6A0212}" type="slidenum">
              <a:t>‹#›</a:t>
            </a:fld>
            <a:endParaRPr lang="en-US"/>
          </a:p>
        </p:txBody>
      </p:sp>
    </p:spTree>
    <p:extLst>
      <p:ext uri="{BB962C8B-B14F-4D97-AF65-F5344CB8AC3E}">
        <p14:creationId xmlns:p14="http://schemas.microsoft.com/office/powerpoint/2010/main" val="80480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10607040" y="502920"/>
            <a:ext cx="716890" cy="0"/>
          </a:xfrm>
          <a:prstGeom prst="line">
            <a:avLst/>
          </a:prstGeom>
          <a:noFill/>
          <a:ln w="15875">
            <a:solidFill>
              <a:srgbClr val="02C39A">
                <a:alpha val="70000"/>
              </a:srgbClr>
            </a:solidFill>
            <a:prstDash val="solid"/>
          </a:ln>
        </p:spPr>
      </p:sp>
      <p:sp>
        <p:nvSpPr>
          <p:cNvPr id="3" name="Shape 1"/>
          <p:cNvSpPr/>
          <p:nvPr/>
        </p:nvSpPr>
        <p:spPr>
          <a:xfrm>
            <a:off x="10561320" y="457200"/>
            <a:ext cx="91440" cy="91440"/>
          </a:xfrm>
          <a:prstGeom prst="ellipse">
            <a:avLst/>
          </a:prstGeom>
          <a:solidFill>
            <a:srgbClr val="02C39A"/>
          </a:solidFill>
          <a:ln/>
        </p:spPr>
      </p:sp>
      <p:sp>
        <p:nvSpPr>
          <p:cNvPr id="4" name="Shape 2"/>
          <p:cNvSpPr/>
          <p:nvPr/>
        </p:nvSpPr>
        <p:spPr>
          <a:xfrm>
            <a:off x="11278210" y="457200"/>
            <a:ext cx="91440" cy="91440"/>
          </a:xfrm>
          <a:prstGeom prst="ellipse">
            <a:avLst/>
          </a:prstGeom>
          <a:solidFill>
            <a:srgbClr val="00A896"/>
          </a:solidFill>
          <a:ln/>
        </p:spPr>
      </p:sp>
      <p:sp>
        <p:nvSpPr>
          <p:cNvPr id="5" name="Shape 3"/>
          <p:cNvSpPr/>
          <p:nvPr/>
        </p:nvSpPr>
        <p:spPr>
          <a:xfrm>
            <a:off x="11006351" y="861365"/>
            <a:ext cx="0" cy="0"/>
          </a:xfrm>
          <a:prstGeom prst="line">
            <a:avLst/>
          </a:prstGeom>
          <a:noFill/>
          <a:ln w="15875">
            <a:solidFill>
              <a:srgbClr val="02C39A">
                <a:alpha val="70000"/>
              </a:srgbClr>
            </a:solidFill>
            <a:prstDash val="solid"/>
          </a:ln>
        </p:spPr>
      </p:sp>
      <p:sp>
        <p:nvSpPr>
          <p:cNvPr id="6" name="Shape 4"/>
          <p:cNvSpPr/>
          <p:nvPr/>
        </p:nvSpPr>
        <p:spPr>
          <a:xfrm>
            <a:off x="10960631" y="815645"/>
            <a:ext cx="91440" cy="91440"/>
          </a:xfrm>
          <a:prstGeom prst="ellipse">
            <a:avLst/>
          </a:prstGeom>
          <a:solidFill>
            <a:srgbClr val="02C39A"/>
          </a:solidFill>
          <a:ln/>
        </p:spPr>
      </p:sp>
      <p:sp>
        <p:nvSpPr>
          <p:cNvPr id="7" name="Shape 5"/>
          <p:cNvSpPr/>
          <p:nvPr/>
        </p:nvSpPr>
        <p:spPr>
          <a:xfrm>
            <a:off x="10878899" y="815645"/>
            <a:ext cx="91440" cy="91440"/>
          </a:xfrm>
          <a:prstGeom prst="ellipse">
            <a:avLst/>
          </a:prstGeom>
          <a:solidFill>
            <a:srgbClr val="00A896"/>
          </a:solidFill>
          <a:ln/>
        </p:spPr>
      </p:sp>
      <p:sp>
        <p:nvSpPr>
          <p:cNvPr id="8" name="Shape 6"/>
          <p:cNvSpPr/>
          <p:nvPr/>
        </p:nvSpPr>
        <p:spPr>
          <a:xfrm>
            <a:off x="10969292" y="1219810"/>
            <a:ext cx="0" cy="0"/>
          </a:xfrm>
          <a:prstGeom prst="line">
            <a:avLst/>
          </a:prstGeom>
          <a:noFill/>
          <a:ln w="15875">
            <a:solidFill>
              <a:srgbClr val="02C39A">
                <a:alpha val="70000"/>
              </a:srgbClr>
            </a:solidFill>
            <a:prstDash val="solid"/>
          </a:ln>
        </p:spPr>
      </p:sp>
      <p:sp>
        <p:nvSpPr>
          <p:cNvPr id="9" name="Shape 7"/>
          <p:cNvSpPr/>
          <p:nvPr/>
        </p:nvSpPr>
        <p:spPr>
          <a:xfrm>
            <a:off x="10923572" y="1174090"/>
            <a:ext cx="91440" cy="91440"/>
          </a:xfrm>
          <a:prstGeom prst="ellipse">
            <a:avLst/>
          </a:prstGeom>
          <a:solidFill>
            <a:srgbClr val="02C39A"/>
          </a:solidFill>
          <a:ln/>
        </p:spPr>
      </p:sp>
      <p:sp>
        <p:nvSpPr>
          <p:cNvPr id="10" name="Shape 8"/>
          <p:cNvSpPr/>
          <p:nvPr/>
        </p:nvSpPr>
        <p:spPr>
          <a:xfrm>
            <a:off x="10915958" y="1174090"/>
            <a:ext cx="91440" cy="91440"/>
          </a:xfrm>
          <a:prstGeom prst="ellipse">
            <a:avLst/>
          </a:prstGeom>
          <a:solidFill>
            <a:srgbClr val="00A896"/>
          </a:solidFill>
          <a:ln/>
        </p:spPr>
      </p:sp>
      <p:sp>
        <p:nvSpPr>
          <p:cNvPr id="11" name="Shape 9"/>
          <p:cNvSpPr/>
          <p:nvPr/>
        </p:nvSpPr>
        <p:spPr>
          <a:xfrm>
            <a:off x="10536361" y="1578254"/>
            <a:ext cx="858247" cy="0"/>
          </a:xfrm>
          <a:prstGeom prst="line">
            <a:avLst/>
          </a:prstGeom>
          <a:noFill/>
          <a:ln w="15875">
            <a:solidFill>
              <a:srgbClr val="02C39A">
                <a:alpha val="70000"/>
              </a:srgbClr>
            </a:solidFill>
            <a:prstDash val="solid"/>
          </a:ln>
        </p:spPr>
      </p:sp>
      <p:sp>
        <p:nvSpPr>
          <p:cNvPr id="12" name="Shape 10"/>
          <p:cNvSpPr/>
          <p:nvPr/>
        </p:nvSpPr>
        <p:spPr>
          <a:xfrm>
            <a:off x="10490641" y="1532534"/>
            <a:ext cx="91440" cy="91440"/>
          </a:xfrm>
          <a:prstGeom prst="ellipse">
            <a:avLst/>
          </a:prstGeom>
          <a:solidFill>
            <a:srgbClr val="02C39A"/>
          </a:solidFill>
          <a:ln/>
        </p:spPr>
      </p:sp>
      <p:sp>
        <p:nvSpPr>
          <p:cNvPr id="13" name="Shape 11"/>
          <p:cNvSpPr/>
          <p:nvPr/>
        </p:nvSpPr>
        <p:spPr>
          <a:xfrm>
            <a:off x="11348889" y="1532534"/>
            <a:ext cx="91440" cy="91440"/>
          </a:xfrm>
          <a:prstGeom prst="ellipse">
            <a:avLst/>
          </a:prstGeom>
          <a:solidFill>
            <a:srgbClr val="00A896"/>
          </a:solidFill>
          <a:ln/>
        </p:spPr>
      </p:sp>
      <p:sp>
        <p:nvSpPr>
          <p:cNvPr id="14" name="Shape 12"/>
          <p:cNvSpPr/>
          <p:nvPr/>
        </p:nvSpPr>
        <p:spPr>
          <a:xfrm>
            <a:off x="10180669" y="1936699"/>
            <a:ext cx="1569632" cy="0"/>
          </a:xfrm>
          <a:prstGeom prst="line">
            <a:avLst/>
          </a:prstGeom>
          <a:noFill/>
          <a:ln w="15875">
            <a:solidFill>
              <a:srgbClr val="02C39A">
                <a:alpha val="70000"/>
              </a:srgbClr>
            </a:solidFill>
            <a:prstDash val="solid"/>
          </a:ln>
        </p:spPr>
      </p:sp>
      <p:sp>
        <p:nvSpPr>
          <p:cNvPr id="15" name="Shape 13"/>
          <p:cNvSpPr/>
          <p:nvPr/>
        </p:nvSpPr>
        <p:spPr>
          <a:xfrm>
            <a:off x="10134949" y="1890979"/>
            <a:ext cx="91440" cy="91440"/>
          </a:xfrm>
          <a:prstGeom prst="ellipse">
            <a:avLst/>
          </a:prstGeom>
          <a:solidFill>
            <a:srgbClr val="02C39A"/>
          </a:solidFill>
          <a:ln/>
        </p:spPr>
      </p:sp>
      <p:sp>
        <p:nvSpPr>
          <p:cNvPr id="16" name="Shape 14"/>
          <p:cNvSpPr/>
          <p:nvPr/>
        </p:nvSpPr>
        <p:spPr>
          <a:xfrm>
            <a:off x="11704581" y="1890979"/>
            <a:ext cx="91440" cy="91440"/>
          </a:xfrm>
          <a:prstGeom prst="ellipse">
            <a:avLst/>
          </a:prstGeom>
          <a:solidFill>
            <a:srgbClr val="00A896"/>
          </a:solidFill>
          <a:ln/>
        </p:spPr>
      </p:sp>
      <p:sp>
        <p:nvSpPr>
          <p:cNvPr id="17" name="Shape 15"/>
          <p:cNvSpPr/>
          <p:nvPr/>
        </p:nvSpPr>
        <p:spPr>
          <a:xfrm>
            <a:off x="10290918" y="2295144"/>
            <a:ext cx="1349133" cy="0"/>
          </a:xfrm>
          <a:prstGeom prst="line">
            <a:avLst/>
          </a:prstGeom>
          <a:noFill/>
          <a:ln w="15875">
            <a:solidFill>
              <a:srgbClr val="02C39A">
                <a:alpha val="70000"/>
              </a:srgbClr>
            </a:solidFill>
            <a:prstDash val="solid"/>
          </a:ln>
        </p:spPr>
      </p:sp>
      <p:sp>
        <p:nvSpPr>
          <p:cNvPr id="18" name="Shape 16"/>
          <p:cNvSpPr/>
          <p:nvPr/>
        </p:nvSpPr>
        <p:spPr>
          <a:xfrm>
            <a:off x="10245198" y="2249424"/>
            <a:ext cx="91440" cy="91440"/>
          </a:xfrm>
          <a:prstGeom prst="ellipse">
            <a:avLst/>
          </a:prstGeom>
          <a:solidFill>
            <a:srgbClr val="02C39A"/>
          </a:solidFill>
          <a:ln/>
        </p:spPr>
      </p:sp>
      <p:sp>
        <p:nvSpPr>
          <p:cNvPr id="19" name="Shape 17"/>
          <p:cNvSpPr/>
          <p:nvPr/>
        </p:nvSpPr>
        <p:spPr>
          <a:xfrm>
            <a:off x="11594331" y="2249424"/>
            <a:ext cx="91440" cy="91440"/>
          </a:xfrm>
          <a:prstGeom prst="ellipse">
            <a:avLst/>
          </a:prstGeom>
          <a:solidFill>
            <a:srgbClr val="00A896"/>
          </a:solidFill>
          <a:ln/>
        </p:spPr>
      </p:sp>
      <p:sp>
        <p:nvSpPr>
          <p:cNvPr id="20" name="Text 18"/>
          <p:cNvSpPr/>
          <p:nvPr/>
        </p:nvSpPr>
        <p:spPr>
          <a:xfrm>
            <a:off x="822960" y="1417320"/>
            <a:ext cx="9601200" cy="36576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BIOINFORMATICS  •  DYNAMIC PROGRAMMING  •  SEQUENCE ANALYSIS</a:t>
            </a:r>
            <a:endParaRPr lang="en-US" sz="1300" dirty="0"/>
          </a:p>
        </p:txBody>
      </p:sp>
      <p:sp>
        <p:nvSpPr>
          <p:cNvPr id="21" name="Text 19"/>
          <p:cNvSpPr/>
          <p:nvPr/>
        </p:nvSpPr>
        <p:spPr>
          <a:xfrm>
            <a:off x="822960" y="187452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DNA and Protein Sequence Alignment</a:t>
            </a:r>
            <a:endParaRPr lang="en-US" sz="4000" dirty="0"/>
          </a:p>
        </p:txBody>
      </p:sp>
      <p:sp>
        <p:nvSpPr>
          <p:cNvPr id="22" name="Text 20"/>
          <p:cNvSpPr/>
          <p:nvPr/>
        </p:nvSpPr>
        <p:spPr>
          <a:xfrm>
            <a:off x="822960" y="2606040"/>
            <a:ext cx="10058400" cy="640080"/>
          </a:xfrm>
          <a:prstGeom prst="rect">
            <a:avLst/>
          </a:prstGeom>
          <a:noFill/>
          <a:ln/>
        </p:spPr>
        <p:txBody>
          <a:bodyPr wrap="square" rtlCol="0" anchor="ctr"/>
          <a:lstStyle/>
          <a:p>
            <a:pPr marL="0" indent="0">
              <a:buNone/>
            </a:pPr>
            <a:r>
              <a:rPr lang="en-US" sz="2400" i="1" dirty="0">
                <a:solidFill>
                  <a:srgbClr val="00A896"/>
                </a:solidFill>
                <a:latin typeface="Cambria" pitchFamily="34" charset="0"/>
                <a:ea typeface="Cambria" pitchFamily="34" charset="-122"/>
                <a:cs typeface="Cambria" pitchFamily="34" charset="-120"/>
              </a:rPr>
              <a:t>using the Needleman–Wunsch Algorithm</a:t>
            </a:r>
            <a:endParaRPr lang="en-US" sz="2400" dirty="0"/>
          </a:p>
        </p:txBody>
      </p:sp>
      <p:sp>
        <p:nvSpPr>
          <p:cNvPr id="23" name="Text 21"/>
          <p:cNvSpPr/>
          <p:nvPr/>
        </p:nvSpPr>
        <p:spPr>
          <a:xfrm>
            <a:off x="822960" y="3429000"/>
            <a:ext cx="8961120" cy="822960"/>
          </a:xfrm>
          <a:prstGeom prst="rect">
            <a:avLst/>
          </a:prstGeom>
          <a:noFill/>
          <a:ln/>
        </p:spPr>
        <p:txBody>
          <a:bodyPr wrap="square" rtlCol="0" anchor="ctr"/>
          <a:lstStyle/>
          <a:p>
            <a:pPr marL="0" indent="0">
              <a:lnSpc>
                <a:spcPct val="130000"/>
              </a:lnSpc>
              <a:buNone/>
            </a:pPr>
            <a:r>
              <a:rPr lang="en-US" sz="1400" dirty="0">
                <a:solidFill>
                  <a:srgbClr val="CFE3E0"/>
                </a:solidFill>
                <a:latin typeface="Calibri" pitchFamily="34" charset="0"/>
                <a:ea typeface="Calibri" pitchFamily="34" charset="-122"/>
                <a:cs typeface="Calibri" pitchFamily="34" charset="-120"/>
              </a:rPr>
              <a:t>A Sequence Alignment Application built on Dynamic Programming to align biological sequences,</a:t>
            </a:r>
            <a:endParaRPr lang="en-US" sz="1400" dirty="0"/>
          </a:p>
          <a:p>
            <a:pPr marL="0" indent="0">
              <a:lnSpc>
                <a:spcPct val="130000"/>
              </a:lnSpc>
              <a:buNone/>
            </a:pPr>
            <a:r>
              <a:rPr lang="en-US" sz="1400" dirty="0">
                <a:solidFill>
                  <a:srgbClr val="CFE3E0"/>
                </a:solidFill>
                <a:latin typeface="Calibri" pitchFamily="34" charset="0"/>
                <a:ea typeface="Calibri" pitchFamily="34" charset="-122"/>
                <a:cs typeface="Calibri" pitchFamily="34" charset="-120"/>
              </a:rPr>
              <a:t>identify conserved regions and motifs, and compute optimal alignment scores.</a:t>
            </a:r>
            <a:endParaRPr lang="en-US" sz="1400" dirty="0"/>
          </a:p>
        </p:txBody>
      </p:sp>
      <p:sp>
        <p:nvSpPr>
          <p:cNvPr id="24" name="Text 22"/>
          <p:cNvSpPr/>
          <p:nvPr/>
        </p:nvSpPr>
        <p:spPr>
          <a:xfrm>
            <a:off x="822960" y="5943600"/>
            <a:ext cx="5486400" cy="365760"/>
          </a:xfrm>
          <a:prstGeom prst="rect">
            <a:avLst/>
          </a:prstGeom>
          <a:noFill/>
          <a:ln/>
        </p:spPr>
        <p:txBody>
          <a:bodyPr wrap="square" rtlCol="0" anchor="ctr"/>
          <a:lstStyle/>
          <a:p>
            <a:pPr marL="0" indent="0">
              <a:buNone/>
            </a:pPr>
            <a:r>
              <a:rPr lang="en-US" sz="1200" dirty="0">
                <a:solidFill>
                  <a:srgbClr val="9FB8C7"/>
                </a:solidFill>
                <a:latin typeface="Calibri" pitchFamily="34" charset="0"/>
                <a:ea typeface="Calibri" pitchFamily="34" charset="-122"/>
                <a:cs typeface="Calibri" pitchFamily="34" charset="-120"/>
              </a:rPr>
              <a:t>Mini Project Presentation</a:t>
            </a:r>
            <a:endParaRPr lang="en-US" sz="1200" dirty="0"/>
          </a:p>
        </p:txBody>
      </p:sp>
      <p:sp>
        <p:nvSpPr>
          <p:cNvPr id="27" name="TextBox 26">
            <a:extLst>
              <a:ext uri="{FF2B5EF4-FFF2-40B4-BE49-F238E27FC236}">
                <a16:creationId xmlns:a16="http://schemas.microsoft.com/office/drawing/2014/main" id="{71C4462E-26E0-3897-30BC-9965312DD70A}"/>
              </a:ext>
            </a:extLst>
          </p:cNvPr>
          <p:cNvSpPr txBox="1"/>
          <p:nvPr/>
        </p:nvSpPr>
        <p:spPr>
          <a:xfrm>
            <a:off x="824663" y="4489270"/>
            <a:ext cx="548544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1600">
                <a:solidFill>
                  <a:schemeClr val="bg1"/>
                </a:solidFill>
                <a:latin typeface="Aptos Display"/>
                <a:ea typeface="Calibri"/>
                <a:cs typeface="Calibri"/>
              </a:rPr>
              <a:t>Mohith B – 2520030028</a:t>
            </a:r>
          </a:p>
          <a:p>
            <a:pPr marL="342900" indent="-342900">
              <a:buAutoNum type="arabicPeriod"/>
            </a:pPr>
            <a:r>
              <a:rPr lang="en-US" sz="1600">
                <a:solidFill>
                  <a:schemeClr val="bg1"/>
                </a:solidFill>
                <a:latin typeface="Aptos Display"/>
                <a:ea typeface="Calibri"/>
                <a:cs typeface="Calibri"/>
              </a:rPr>
              <a:t>Hansita G – 2520030332</a:t>
            </a:r>
            <a:endParaRPr lang="en-US" sz="1600" dirty="0">
              <a:solidFill>
                <a:schemeClr val="bg1"/>
              </a:solidFill>
              <a:latin typeface="Aptos Display"/>
              <a:ea typeface="Calibri"/>
              <a:cs typeface="Calibri"/>
            </a:endParaRPr>
          </a:p>
          <a:p>
            <a:pPr marL="342900" indent="-342900">
              <a:buAutoNum type="arabicPeriod"/>
            </a:pPr>
            <a:r>
              <a:rPr lang="en-US" sz="1600" dirty="0" err="1">
                <a:solidFill>
                  <a:schemeClr val="bg1"/>
                </a:solidFill>
                <a:latin typeface="Aptos Display"/>
                <a:ea typeface="Calibri"/>
                <a:cs typeface="Calibri"/>
              </a:rPr>
              <a:t>Darahasini</a:t>
            </a:r>
            <a:r>
              <a:rPr lang="en-US" sz="1600" dirty="0">
                <a:solidFill>
                  <a:schemeClr val="bg1"/>
                </a:solidFill>
                <a:latin typeface="Aptos Display"/>
                <a:ea typeface="Calibri"/>
                <a:cs typeface="Calibri"/>
              </a:rPr>
              <a:t> D - 2520030289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21208"/>
            <a:ext cx="146304" cy="146304"/>
          </a:xfrm>
          <a:prstGeom prst="ellipse">
            <a:avLst/>
          </a:prstGeom>
          <a:solidFill>
            <a:srgbClr val="028090"/>
          </a:solidFill>
          <a:ln/>
        </p:spPr>
      </p:sp>
      <p:sp>
        <p:nvSpPr>
          <p:cNvPr id="3" name="Text 1"/>
          <p:cNvSpPr/>
          <p:nvPr/>
        </p:nvSpPr>
        <p:spPr>
          <a:xfrm>
            <a:off x="822960" y="393192"/>
            <a:ext cx="7315200" cy="365760"/>
          </a:xfrm>
          <a:prstGeom prst="rect">
            <a:avLst/>
          </a:prstGeom>
          <a:noFill/>
          <a:ln/>
        </p:spPr>
        <p:txBody>
          <a:bodyPr wrap="square" rtlCol="0" anchor="ctr"/>
          <a:lstStyle/>
          <a:p>
            <a:pPr marL="0" indent="0">
              <a:buNone/>
            </a:pPr>
            <a:r>
              <a:rPr lang="en-US" sz="2000" b="1" dirty="0">
                <a:solidFill>
                  <a:srgbClr val="16324F"/>
                </a:solidFill>
                <a:latin typeface="Cambria" pitchFamily="34" charset="0"/>
                <a:ea typeface="Cambria" pitchFamily="34" charset="-122"/>
                <a:cs typeface="Cambria" pitchFamily="34" charset="-120"/>
              </a:rPr>
              <a:t>Abstract</a:t>
            </a:r>
            <a:endParaRPr lang="en-US" sz="2000" dirty="0"/>
          </a:p>
        </p:txBody>
      </p:sp>
      <p:sp>
        <p:nvSpPr>
          <p:cNvPr id="4" name="Shape 2"/>
          <p:cNvSpPr/>
          <p:nvPr/>
        </p:nvSpPr>
        <p:spPr>
          <a:xfrm>
            <a:off x="548640" y="1051560"/>
            <a:ext cx="6675120" cy="5074920"/>
          </a:xfrm>
          <a:prstGeom prst="rect">
            <a:avLst/>
          </a:prstGeom>
          <a:solidFill>
            <a:srgbClr val="F2F7F6"/>
          </a:solidFill>
          <a:ln/>
          <a:effectLst>
            <a:outerShdw blurRad="76200" dist="25400" dir="5400000" algn="bl" rotWithShape="0">
              <a:srgbClr val="89A9A6">
                <a:alpha val="25000"/>
              </a:srgbClr>
            </a:outerShdw>
          </a:effectLst>
        </p:spPr>
      </p:sp>
      <p:sp>
        <p:nvSpPr>
          <p:cNvPr id="5" name="Text 3"/>
          <p:cNvSpPr/>
          <p:nvPr/>
        </p:nvSpPr>
        <p:spPr>
          <a:xfrm>
            <a:off x="822960" y="1280160"/>
            <a:ext cx="6126480" cy="4572000"/>
          </a:xfrm>
          <a:prstGeom prst="rect">
            <a:avLst/>
          </a:prstGeom>
          <a:noFill/>
          <a:ln/>
        </p:spPr>
        <p:txBody>
          <a:bodyPr wrap="square" rtlCol="0" anchor="ctr"/>
          <a:lstStyle/>
          <a:p>
            <a:pPr marL="0" indent="0" algn="l">
              <a:lnSpc>
                <a:spcPct val="125000"/>
              </a:lnSpc>
              <a:buNone/>
            </a:pPr>
            <a:r>
              <a:rPr lang="en-US" sz="1300" dirty="0">
                <a:solidFill>
                  <a:srgbClr val="2B3A3A"/>
                </a:solidFill>
                <a:latin typeface="Calibri" pitchFamily="34" charset="0"/>
                <a:ea typeface="Calibri" pitchFamily="34" charset="-122"/>
                <a:cs typeface="Calibri" pitchFamily="34" charset="-120"/>
              </a:rPr>
              <a:t>This project focuses on the alignment of DNA and protein sequences using the Needleman–Wunsch algorithm, a dynamic programming technique used for global sequence alignment. The system compares two biological sequences by constructing a scoring matrix based on match, mismatch, and gap penalties. It then identifies the optimal alignment by tracing back through the matrix, allowing similarities and differences between sequences to be clearly determined.</a:t>
            </a:r>
            <a:endParaRPr lang="en-US" sz="1300" dirty="0"/>
          </a:p>
          <a:p>
            <a:pPr marL="0" indent="0" algn="l">
              <a:lnSpc>
                <a:spcPct val="125000"/>
              </a:lnSpc>
              <a:buNone/>
            </a:pPr>
            <a:endParaRPr lang="en-US" sz="1300" dirty="0"/>
          </a:p>
          <a:p>
            <a:pPr marL="0" indent="0" algn="l">
              <a:lnSpc>
                <a:spcPct val="125000"/>
              </a:lnSpc>
              <a:buNone/>
            </a:pPr>
            <a:r>
              <a:rPr lang="en-US" sz="1300" dirty="0">
                <a:solidFill>
                  <a:srgbClr val="2B3A3A"/>
                </a:solidFill>
                <a:latin typeface="Calibri" pitchFamily="34" charset="0"/>
                <a:ea typeface="Calibri" pitchFamily="34" charset="-122"/>
                <a:cs typeface="Calibri" pitchFamily="34" charset="-120"/>
              </a:rPr>
              <a:t>The project demonstrates the application of Data Structures and Algorithms concepts in bioinformatics, particularly dynamic programming, matrix construction, and traceback techniques. It can be used to analyze genetic and protein sequence similarities, identify conserved regions, and understand evolutionary relationships. The system provides an efficient and systematic approach to sequence comparison while demonstrating how algorithmic techniques can solve real-world biological problems.</a:t>
            </a:r>
            <a:endParaRPr lang="en-US" sz="1300" dirty="0"/>
          </a:p>
        </p:txBody>
      </p:sp>
      <p:sp>
        <p:nvSpPr>
          <p:cNvPr id="6" name="Shape 4"/>
          <p:cNvSpPr/>
          <p:nvPr/>
        </p:nvSpPr>
        <p:spPr>
          <a:xfrm>
            <a:off x="7543800" y="1170432"/>
            <a:ext cx="128016" cy="128016"/>
          </a:xfrm>
          <a:prstGeom prst="ellipse">
            <a:avLst/>
          </a:prstGeom>
          <a:solidFill>
            <a:srgbClr val="028090"/>
          </a:solidFill>
          <a:ln/>
        </p:spPr>
      </p:sp>
      <p:sp>
        <p:nvSpPr>
          <p:cNvPr id="7" name="Text 5"/>
          <p:cNvSpPr/>
          <p:nvPr/>
        </p:nvSpPr>
        <p:spPr>
          <a:xfrm>
            <a:off x="7818120" y="1024128"/>
            <a:ext cx="3840480" cy="292608"/>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Global Alignment</a:t>
            </a:r>
            <a:endParaRPr lang="en-US" sz="1350" dirty="0"/>
          </a:p>
        </p:txBody>
      </p:sp>
      <p:sp>
        <p:nvSpPr>
          <p:cNvPr id="8" name="Text 6"/>
          <p:cNvSpPr/>
          <p:nvPr/>
        </p:nvSpPr>
        <p:spPr>
          <a:xfrm>
            <a:off x="7818120" y="1298448"/>
            <a:ext cx="3840480" cy="320040"/>
          </a:xfrm>
          <a:prstGeom prst="rect">
            <a:avLst/>
          </a:prstGeom>
          <a:noFill/>
          <a:ln/>
        </p:spPr>
        <p:txBody>
          <a:bodyPr wrap="square" rtlCol="0" anchor="ctr"/>
          <a:lstStyle/>
          <a:p>
            <a:pPr marL="0" indent="0">
              <a:buNone/>
            </a:pPr>
            <a:r>
              <a:rPr lang="en-US" sz="1050" dirty="0">
                <a:solidFill>
                  <a:srgbClr val="5A6B6B"/>
                </a:solidFill>
                <a:latin typeface="Calibri" pitchFamily="34" charset="0"/>
                <a:ea typeface="Calibri" pitchFamily="34" charset="-122"/>
                <a:cs typeface="Calibri" pitchFamily="34" charset="-120"/>
              </a:rPr>
              <a:t>Compares sequences end-to-end</a:t>
            </a:r>
            <a:endParaRPr lang="en-US" sz="1050" dirty="0"/>
          </a:p>
        </p:txBody>
      </p:sp>
      <p:sp>
        <p:nvSpPr>
          <p:cNvPr id="9" name="Shape 7"/>
          <p:cNvSpPr/>
          <p:nvPr/>
        </p:nvSpPr>
        <p:spPr>
          <a:xfrm>
            <a:off x="7543800" y="2039112"/>
            <a:ext cx="128016" cy="128016"/>
          </a:xfrm>
          <a:prstGeom prst="ellipse">
            <a:avLst/>
          </a:prstGeom>
          <a:solidFill>
            <a:srgbClr val="00A896"/>
          </a:solidFill>
          <a:ln/>
        </p:spPr>
      </p:sp>
      <p:sp>
        <p:nvSpPr>
          <p:cNvPr id="10" name="Text 8"/>
          <p:cNvSpPr/>
          <p:nvPr/>
        </p:nvSpPr>
        <p:spPr>
          <a:xfrm>
            <a:off x="7818120" y="1892808"/>
            <a:ext cx="3840480" cy="292608"/>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Dynamic Programming</a:t>
            </a:r>
            <a:endParaRPr lang="en-US" sz="1350" dirty="0"/>
          </a:p>
        </p:txBody>
      </p:sp>
      <p:sp>
        <p:nvSpPr>
          <p:cNvPr id="11" name="Text 9"/>
          <p:cNvSpPr/>
          <p:nvPr/>
        </p:nvSpPr>
        <p:spPr>
          <a:xfrm>
            <a:off x="7818120" y="2167128"/>
            <a:ext cx="3840480" cy="320040"/>
          </a:xfrm>
          <a:prstGeom prst="rect">
            <a:avLst/>
          </a:prstGeom>
          <a:noFill/>
          <a:ln/>
        </p:spPr>
        <p:txBody>
          <a:bodyPr wrap="square" rtlCol="0" anchor="ctr"/>
          <a:lstStyle/>
          <a:p>
            <a:pPr marL="0" indent="0">
              <a:buNone/>
            </a:pPr>
            <a:r>
              <a:rPr lang="en-US" sz="1050" dirty="0">
                <a:solidFill>
                  <a:srgbClr val="5A6B6B"/>
                </a:solidFill>
                <a:latin typeface="Calibri" pitchFamily="34" charset="0"/>
                <a:ea typeface="Calibri" pitchFamily="34" charset="-122"/>
                <a:cs typeface="Calibri" pitchFamily="34" charset="-120"/>
              </a:rPr>
              <a:t>Matrix-based optimal substructure</a:t>
            </a:r>
            <a:endParaRPr lang="en-US" sz="1050" dirty="0"/>
          </a:p>
        </p:txBody>
      </p:sp>
      <p:sp>
        <p:nvSpPr>
          <p:cNvPr id="12" name="Shape 10"/>
          <p:cNvSpPr/>
          <p:nvPr/>
        </p:nvSpPr>
        <p:spPr>
          <a:xfrm>
            <a:off x="7543800" y="2907792"/>
            <a:ext cx="128016" cy="128016"/>
          </a:xfrm>
          <a:prstGeom prst="ellipse">
            <a:avLst/>
          </a:prstGeom>
          <a:solidFill>
            <a:srgbClr val="02C39A"/>
          </a:solidFill>
          <a:ln/>
        </p:spPr>
      </p:sp>
      <p:sp>
        <p:nvSpPr>
          <p:cNvPr id="13" name="Text 11"/>
          <p:cNvSpPr/>
          <p:nvPr/>
        </p:nvSpPr>
        <p:spPr>
          <a:xfrm>
            <a:off x="7818120" y="2761488"/>
            <a:ext cx="3840480" cy="292608"/>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Traceback</a:t>
            </a:r>
            <a:endParaRPr lang="en-US" sz="1350" dirty="0"/>
          </a:p>
        </p:txBody>
      </p:sp>
      <p:sp>
        <p:nvSpPr>
          <p:cNvPr id="14" name="Text 12"/>
          <p:cNvSpPr/>
          <p:nvPr/>
        </p:nvSpPr>
        <p:spPr>
          <a:xfrm>
            <a:off x="7818120" y="3035808"/>
            <a:ext cx="3840480" cy="320040"/>
          </a:xfrm>
          <a:prstGeom prst="rect">
            <a:avLst/>
          </a:prstGeom>
          <a:noFill/>
          <a:ln/>
        </p:spPr>
        <p:txBody>
          <a:bodyPr wrap="square" rtlCol="0" anchor="ctr"/>
          <a:lstStyle/>
          <a:p>
            <a:pPr marL="0" indent="0">
              <a:buNone/>
            </a:pPr>
            <a:r>
              <a:rPr lang="en-US" sz="1050" dirty="0">
                <a:solidFill>
                  <a:srgbClr val="5A6B6B"/>
                </a:solidFill>
                <a:latin typeface="Calibri" pitchFamily="34" charset="0"/>
                <a:ea typeface="Calibri" pitchFamily="34" charset="-122"/>
                <a:cs typeface="Calibri" pitchFamily="34" charset="-120"/>
              </a:rPr>
              <a:t>Recovers the best alignment path</a:t>
            </a:r>
            <a:endParaRPr lang="en-US" sz="1050" dirty="0"/>
          </a:p>
        </p:txBody>
      </p:sp>
      <p:sp>
        <p:nvSpPr>
          <p:cNvPr id="15" name="Shape 13"/>
          <p:cNvSpPr/>
          <p:nvPr/>
        </p:nvSpPr>
        <p:spPr>
          <a:xfrm>
            <a:off x="7543800" y="3776472"/>
            <a:ext cx="128016" cy="128016"/>
          </a:xfrm>
          <a:prstGeom prst="ellipse">
            <a:avLst/>
          </a:prstGeom>
          <a:solidFill>
            <a:srgbClr val="028090"/>
          </a:solidFill>
          <a:ln/>
        </p:spPr>
      </p:sp>
      <p:sp>
        <p:nvSpPr>
          <p:cNvPr id="16" name="Text 14"/>
          <p:cNvSpPr/>
          <p:nvPr/>
        </p:nvSpPr>
        <p:spPr>
          <a:xfrm>
            <a:off x="7818120" y="3630168"/>
            <a:ext cx="3840480" cy="292608"/>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Scoring System</a:t>
            </a:r>
            <a:endParaRPr lang="en-US" sz="1350" dirty="0"/>
          </a:p>
        </p:txBody>
      </p:sp>
      <p:sp>
        <p:nvSpPr>
          <p:cNvPr id="17" name="Text 15"/>
          <p:cNvSpPr/>
          <p:nvPr/>
        </p:nvSpPr>
        <p:spPr>
          <a:xfrm>
            <a:off x="7818120" y="3904488"/>
            <a:ext cx="3840480" cy="320040"/>
          </a:xfrm>
          <a:prstGeom prst="rect">
            <a:avLst/>
          </a:prstGeom>
          <a:noFill/>
          <a:ln/>
        </p:spPr>
        <p:txBody>
          <a:bodyPr wrap="square" rtlCol="0" anchor="ctr"/>
          <a:lstStyle/>
          <a:p>
            <a:pPr marL="0" indent="0">
              <a:buNone/>
            </a:pPr>
            <a:r>
              <a:rPr lang="en-US" sz="1050" dirty="0">
                <a:solidFill>
                  <a:srgbClr val="5A6B6B"/>
                </a:solidFill>
                <a:latin typeface="Calibri" pitchFamily="34" charset="0"/>
                <a:ea typeface="Calibri" pitchFamily="34" charset="-122"/>
                <a:cs typeface="Calibri" pitchFamily="34" charset="-120"/>
              </a:rPr>
              <a:t>Match / Mismatch / Gap penalty</a:t>
            </a:r>
            <a:endParaRPr lang="en-US" sz="1050" dirty="0"/>
          </a:p>
        </p:txBody>
      </p:sp>
      <p:sp>
        <p:nvSpPr>
          <p:cNvPr id="18" name="Shape 16"/>
          <p:cNvSpPr/>
          <p:nvPr/>
        </p:nvSpPr>
        <p:spPr>
          <a:xfrm>
            <a:off x="7543800" y="4663440"/>
            <a:ext cx="4114800" cy="960120"/>
          </a:xfrm>
          <a:prstGeom prst="rect">
            <a:avLst/>
          </a:prstGeom>
          <a:solidFill>
            <a:srgbClr val="16324F"/>
          </a:solidFill>
          <a:ln/>
        </p:spPr>
      </p:sp>
      <p:sp>
        <p:nvSpPr>
          <p:cNvPr id="19" name="Text 17"/>
          <p:cNvSpPr/>
          <p:nvPr/>
        </p:nvSpPr>
        <p:spPr>
          <a:xfrm>
            <a:off x="7726680" y="4736592"/>
            <a:ext cx="3749040" cy="274320"/>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Core Idea</a:t>
            </a:r>
            <a:endParaRPr lang="en-US" sz="1100" dirty="0"/>
          </a:p>
        </p:txBody>
      </p:sp>
      <p:sp>
        <p:nvSpPr>
          <p:cNvPr id="20" name="Text 18"/>
          <p:cNvSpPr/>
          <p:nvPr/>
        </p:nvSpPr>
        <p:spPr>
          <a:xfrm>
            <a:off x="7726680" y="5001768"/>
            <a:ext cx="3749040" cy="548640"/>
          </a:xfrm>
          <a:prstGeom prst="rect">
            <a:avLst/>
          </a:prstGeom>
          <a:noFill/>
          <a:ln/>
        </p:spPr>
        <p:txBody>
          <a:bodyPr wrap="square" rtlCol="0" anchor="ctr"/>
          <a:lstStyle/>
          <a:p>
            <a:pPr marL="0" indent="0">
              <a:buNone/>
            </a:pPr>
            <a:r>
              <a:rPr lang="en-US" sz="1050" i="1" dirty="0">
                <a:solidFill>
                  <a:srgbClr val="E3EEEC"/>
                </a:solidFill>
                <a:latin typeface="Calibri" pitchFamily="34" charset="0"/>
                <a:ea typeface="Calibri" pitchFamily="34" charset="-122"/>
                <a:cs typeface="Calibri" pitchFamily="34" charset="-120"/>
              </a:rPr>
              <a:t>Build the scoring matrix once, trace back once — optimal alignment guaranteed.</a:t>
            </a:r>
            <a:endParaRPr lang="en-US" sz="1050" dirty="0"/>
          </a:p>
        </p:txBody>
      </p:sp>
      <p:sp>
        <p:nvSpPr>
          <p:cNvPr id="21" name="Text 19"/>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6B"/>
                </a:solidFill>
                <a:latin typeface="Calibri" pitchFamily="34" charset="0"/>
                <a:ea typeface="Calibri" pitchFamily="34" charset="-122"/>
                <a:cs typeface="Calibri" pitchFamily="34" charset="-120"/>
              </a:rPr>
              <a:t>DNA &amp; Protein Sequence Alignment — Needleman–Wunsch</a:t>
            </a:r>
            <a:endParaRPr lang="en-US" sz="900" dirty="0"/>
          </a:p>
        </p:txBody>
      </p:sp>
      <p:sp>
        <p:nvSpPr>
          <p:cNvPr id="22" name="Text 20"/>
          <p:cNvSpPr/>
          <p:nvPr/>
        </p:nvSpPr>
        <p:spPr>
          <a:xfrm>
            <a:off x="11365992" y="6473952"/>
            <a:ext cx="457200" cy="274320"/>
          </a:xfrm>
          <a:prstGeom prst="rect">
            <a:avLst/>
          </a:prstGeom>
          <a:noFill/>
          <a:ln/>
        </p:spPr>
        <p:txBody>
          <a:bodyPr wrap="square" rtlCol="0" anchor="ctr"/>
          <a:lstStyle/>
          <a:p>
            <a:pPr marL="0" indent="0" algn="r">
              <a:buNone/>
            </a:pPr>
            <a:r>
              <a:rPr lang="en-US" sz="900" dirty="0">
                <a:solidFill>
                  <a:srgbClr val="5A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21208"/>
            <a:ext cx="146304" cy="146304"/>
          </a:xfrm>
          <a:prstGeom prst="ellipse">
            <a:avLst/>
          </a:prstGeom>
          <a:solidFill>
            <a:srgbClr val="028090"/>
          </a:solidFill>
          <a:ln/>
        </p:spPr>
      </p:sp>
      <p:sp>
        <p:nvSpPr>
          <p:cNvPr id="3" name="Text 1"/>
          <p:cNvSpPr/>
          <p:nvPr/>
        </p:nvSpPr>
        <p:spPr>
          <a:xfrm>
            <a:off x="822960" y="393192"/>
            <a:ext cx="7315200" cy="365760"/>
          </a:xfrm>
          <a:prstGeom prst="rect">
            <a:avLst/>
          </a:prstGeom>
          <a:noFill/>
          <a:ln/>
        </p:spPr>
        <p:txBody>
          <a:bodyPr wrap="square" rtlCol="0" anchor="ctr"/>
          <a:lstStyle/>
          <a:p>
            <a:pPr marL="0" indent="0">
              <a:buNone/>
            </a:pPr>
            <a:r>
              <a:rPr lang="en-US" sz="2000" b="1" dirty="0">
                <a:solidFill>
                  <a:srgbClr val="16324F"/>
                </a:solidFill>
                <a:latin typeface="Cambria" pitchFamily="34" charset="0"/>
                <a:ea typeface="Cambria" pitchFamily="34" charset="-122"/>
                <a:cs typeface="Cambria" pitchFamily="34" charset="-120"/>
              </a:rPr>
              <a:t>Problem Statement</a:t>
            </a:r>
            <a:endParaRPr lang="en-US" sz="2000" dirty="0"/>
          </a:p>
        </p:txBody>
      </p:sp>
      <p:sp>
        <p:nvSpPr>
          <p:cNvPr id="4" name="Text 2"/>
          <p:cNvSpPr/>
          <p:nvPr/>
        </p:nvSpPr>
        <p:spPr>
          <a:xfrm>
            <a:off x="822960" y="1051560"/>
            <a:ext cx="10515600" cy="777240"/>
          </a:xfrm>
          <a:prstGeom prst="rect">
            <a:avLst/>
          </a:prstGeom>
          <a:noFill/>
          <a:ln/>
        </p:spPr>
        <p:txBody>
          <a:bodyPr wrap="square" rtlCol="0" anchor="ctr"/>
          <a:lstStyle/>
          <a:p>
            <a:pPr marL="0" indent="0">
              <a:lnSpc>
                <a:spcPct val="125000"/>
              </a:lnSpc>
              <a:buNone/>
            </a:pPr>
            <a:r>
              <a:rPr lang="en-US" sz="1400" dirty="0">
                <a:solidFill>
                  <a:srgbClr val="2B3A3A"/>
                </a:solidFill>
                <a:latin typeface="Calibri" pitchFamily="34" charset="0"/>
                <a:ea typeface="Calibri" pitchFamily="34" charset="-122"/>
                <a:cs typeface="Calibri" pitchFamily="34" charset="-120"/>
              </a:rPr>
              <a:t>Comparing DNA and protein sequences manually is slow, error-prone, and impractical as sequence length grows. There is a need for a systematic, algorithmic approach that finds the mathematically optimal alignment between two sequences — not just a reasonable-looking one.</a:t>
            </a:r>
            <a:endParaRPr lang="en-US" sz="1400" dirty="0"/>
          </a:p>
        </p:txBody>
      </p:sp>
      <p:sp>
        <p:nvSpPr>
          <p:cNvPr id="5" name="Shape 3"/>
          <p:cNvSpPr/>
          <p:nvPr/>
        </p:nvSpPr>
        <p:spPr>
          <a:xfrm>
            <a:off x="548640" y="2103120"/>
            <a:ext cx="5074920" cy="1965960"/>
          </a:xfrm>
          <a:prstGeom prst="roundRect">
            <a:avLst>
              <a:gd name="adj" fmla="val 4186"/>
            </a:avLst>
          </a:prstGeom>
          <a:solidFill>
            <a:srgbClr val="F2F7F6"/>
          </a:solidFill>
          <a:ln/>
        </p:spPr>
      </p:sp>
      <p:sp>
        <p:nvSpPr>
          <p:cNvPr id="6" name="Shape 4"/>
          <p:cNvSpPr/>
          <p:nvPr/>
        </p:nvSpPr>
        <p:spPr>
          <a:xfrm>
            <a:off x="804672" y="2359152"/>
            <a:ext cx="457200" cy="457200"/>
          </a:xfrm>
          <a:prstGeom prst="ellipse">
            <a:avLst/>
          </a:prstGeom>
          <a:solidFill>
            <a:srgbClr val="028090"/>
          </a:solidFill>
          <a:ln/>
        </p:spPr>
      </p:sp>
      <p:sp>
        <p:nvSpPr>
          <p:cNvPr id="7" name="Text 5"/>
          <p:cNvSpPr/>
          <p:nvPr/>
        </p:nvSpPr>
        <p:spPr>
          <a:xfrm>
            <a:off x="804672" y="235915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17320" y="2304288"/>
            <a:ext cx="3977640" cy="50292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Manual Comparison Fails at Scale</a:t>
            </a:r>
            <a:endParaRPr lang="en-US" sz="1350" dirty="0"/>
          </a:p>
        </p:txBody>
      </p:sp>
      <p:sp>
        <p:nvSpPr>
          <p:cNvPr id="9" name="Text 7"/>
          <p:cNvSpPr/>
          <p:nvPr/>
        </p:nvSpPr>
        <p:spPr>
          <a:xfrm>
            <a:off x="804672" y="2926080"/>
            <a:ext cx="4562856" cy="1005840"/>
          </a:xfrm>
          <a:prstGeom prst="rect">
            <a:avLst/>
          </a:prstGeom>
          <a:noFill/>
          <a:ln/>
        </p:spPr>
        <p:txBody>
          <a:bodyPr wrap="square" rtlCol="0" anchor="ctr"/>
          <a:lstStyle/>
          <a:p>
            <a:pPr marL="0" indent="0">
              <a:lnSpc>
                <a:spcPct val="120000"/>
              </a:lnSpc>
              <a:buNone/>
            </a:pPr>
            <a:r>
              <a:rPr lang="en-US" sz="1150" dirty="0">
                <a:solidFill>
                  <a:srgbClr val="5A6B6B"/>
                </a:solidFill>
                <a:latin typeface="Calibri" pitchFamily="34" charset="0"/>
                <a:ea typeface="Calibri" pitchFamily="34" charset="-122"/>
                <a:cs typeface="Calibri" pitchFamily="34" charset="-120"/>
              </a:rPr>
              <a:t>Checking similarity by eye is impossible for sequences with hundreds or thousands of bases/residues.</a:t>
            </a:r>
            <a:endParaRPr lang="en-US" sz="1150" dirty="0"/>
          </a:p>
        </p:txBody>
      </p:sp>
      <p:sp>
        <p:nvSpPr>
          <p:cNvPr id="10" name="Shape 8"/>
          <p:cNvSpPr/>
          <p:nvPr/>
        </p:nvSpPr>
        <p:spPr>
          <a:xfrm>
            <a:off x="5989320" y="2103120"/>
            <a:ext cx="5074920" cy="1965960"/>
          </a:xfrm>
          <a:prstGeom prst="roundRect">
            <a:avLst>
              <a:gd name="adj" fmla="val 4186"/>
            </a:avLst>
          </a:prstGeom>
          <a:solidFill>
            <a:srgbClr val="F2F7F6"/>
          </a:solidFill>
          <a:ln/>
        </p:spPr>
      </p:sp>
      <p:sp>
        <p:nvSpPr>
          <p:cNvPr id="11" name="Shape 9"/>
          <p:cNvSpPr/>
          <p:nvPr/>
        </p:nvSpPr>
        <p:spPr>
          <a:xfrm>
            <a:off x="6245352" y="2359152"/>
            <a:ext cx="457200" cy="457200"/>
          </a:xfrm>
          <a:prstGeom prst="ellipse">
            <a:avLst/>
          </a:prstGeom>
          <a:solidFill>
            <a:srgbClr val="00A896"/>
          </a:solidFill>
          <a:ln/>
        </p:spPr>
      </p:sp>
      <p:sp>
        <p:nvSpPr>
          <p:cNvPr id="12" name="Text 10"/>
          <p:cNvSpPr/>
          <p:nvPr/>
        </p:nvSpPr>
        <p:spPr>
          <a:xfrm>
            <a:off x="6245352" y="235915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6858000" y="2304288"/>
            <a:ext cx="3977640" cy="50292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No Guaranteed Optimal Result</a:t>
            </a:r>
            <a:endParaRPr lang="en-US" sz="1350" dirty="0"/>
          </a:p>
        </p:txBody>
      </p:sp>
      <p:sp>
        <p:nvSpPr>
          <p:cNvPr id="14" name="Text 12"/>
          <p:cNvSpPr/>
          <p:nvPr/>
        </p:nvSpPr>
        <p:spPr>
          <a:xfrm>
            <a:off x="6245352" y="2926080"/>
            <a:ext cx="4562856" cy="1005840"/>
          </a:xfrm>
          <a:prstGeom prst="rect">
            <a:avLst/>
          </a:prstGeom>
          <a:noFill/>
          <a:ln/>
        </p:spPr>
        <p:txBody>
          <a:bodyPr wrap="square" rtlCol="0" anchor="ctr"/>
          <a:lstStyle/>
          <a:p>
            <a:pPr marL="0" indent="0">
              <a:lnSpc>
                <a:spcPct val="120000"/>
              </a:lnSpc>
              <a:buNone/>
            </a:pPr>
            <a:r>
              <a:rPr lang="en-US" sz="1150" dirty="0">
                <a:solidFill>
                  <a:srgbClr val="5A6B6B"/>
                </a:solidFill>
                <a:latin typeface="Calibri" pitchFamily="34" charset="0"/>
                <a:ea typeface="Calibri" pitchFamily="34" charset="-122"/>
                <a:cs typeface="Calibri" pitchFamily="34" charset="-120"/>
              </a:rPr>
              <a:t>Naive or heuristic comparisons may miss the best possible alignment between two sequences.</a:t>
            </a:r>
            <a:endParaRPr lang="en-US" sz="1150" dirty="0"/>
          </a:p>
        </p:txBody>
      </p:sp>
      <p:sp>
        <p:nvSpPr>
          <p:cNvPr id="15" name="Shape 13"/>
          <p:cNvSpPr/>
          <p:nvPr/>
        </p:nvSpPr>
        <p:spPr>
          <a:xfrm>
            <a:off x="548640" y="4389120"/>
            <a:ext cx="5074920" cy="1965960"/>
          </a:xfrm>
          <a:prstGeom prst="roundRect">
            <a:avLst>
              <a:gd name="adj" fmla="val 4186"/>
            </a:avLst>
          </a:prstGeom>
          <a:solidFill>
            <a:srgbClr val="F2F7F6"/>
          </a:solidFill>
          <a:ln/>
        </p:spPr>
      </p:sp>
      <p:sp>
        <p:nvSpPr>
          <p:cNvPr id="16" name="Shape 14"/>
          <p:cNvSpPr/>
          <p:nvPr/>
        </p:nvSpPr>
        <p:spPr>
          <a:xfrm>
            <a:off x="804672" y="4645152"/>
            <a:ext cx="457200" cy="457200"/>
          </a:xfrm>
          <a:prstGeom prst="ellipse">
            <a:avLst/>
          </a:prstGeom>
          <a:solidFill>
            <a:srgbClr val="02C39A"/>
          </a:solidFill>
          <a:ln/>
        </p:spPr>
      </p:sp>
      <p:sp>
        <p:nvSpPr>
          <p:cNvPr id="17" name="Text 15"/>
          <p:cNvSpPr/>
          <p:nvPr/>
        </p:nvSpPr>
        <p:spPr>
          <a:xfrm>
            <a:off x="804672" y="464515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417320" y="4590288"/>
            <a:ext cx="3977640" cy="50292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Gaps &amp; Mutations Are Hard to Handle</a:t>
            </a:r>
            <a:endParaRPr lang="en-US" sz="1350" dirty="0"/>
          </a:p>
        </p:txBody>
      </p:sp>
      <p:sp>
        <p:nvSpPr>
          <p:cNvPr id="19" name="Text 17"/>
          <p:cNvSpPr/>
          <p:nvPr/>
        </p:nvSpPr>
        <p:spPr>
          <a:xfrm>
            <a:off x="804672" y="5212080"/>
            <a:ext cx="4562856" cy="1005840"/>
          </a:xfrm>
          <a:prstGeom prst="rect">
            <a:avLst/>
          </a:prstGeom>
          <a:noFill/>
          <a:ln/>
        </p:spPr>
        <p:txBody>
          <a:bodyPr wrap="square" rtlCol="0" anchor="ctr"/>
          <a:lstStyle/>
          <a:p>
            <a:pPr marL="0" indent="0">
              <a:lnSpc>
                <a:spcPct val="120000"/>
              </a:lnSpc>
              <a:buNone/>
            </a:pPr>
            <a:r>
              <a:rPr lang="en-US" sz="1150" dirty="0">
                <a:solidFill>
                  <a:srgbClr val="5A6B6B"/>
                </a:solidFill>
                <a:latin typeface="Calibri" pitchFamily="34" charset="0"/>
                <a:ea typeface="Calibri" pitchFamily="34" charset="-122"/>
                <a:cs typeface="Calibri" pitchFamily="34" charset="-120"/>
              </a:rPr>
              <a:t>Insertions, deletions, and mismatches need a principled scoring model, not guesswork.</a:t>
            </a:r>
            <a:endParaRPr lang="en-US" sz="1150" dirty="0"/>
          </a:p>
        </p:txBody>
      </p:sp>
      <p:sp>
        <p:nvSpPr>
          <p:cNvPr id="20" name="Shape 18"/>
          <p:cNvSpPr/>
          <p:nvPr/>
        </p:nvSpPr>
        <p:spPr>
          <a:xfrm>
            <a:off x="5989320" y="4389120"/>
            <a:ext cx="5074920" cy="1965960"/>
          </a:xfrm>
          <a:prstGeom prst="roundRect">
            <a:avLst>
              <a:gd name="adj" fmla="val 4186"/>
            </a:avLst>
          </a:prstGeom>
          <a:solidFill>
            <a:srgbClr val="F2F7F6"/>
          </a:solidFill>
          <a:ln/>
        </p:spPr>
      </p:sp>
      <p:sp>
        <p:nvSpPr>
          <p:cNvPr id="21" name="Shape 19"/>
          <p:cNvSpPr/>
          <p:nvPr/>
        </p:nvSpPr>
        <p:spPr>
          <a:xfrm>
            <a:off x="6245352" y="4645152"/>
            <a:ext cx="457200" cy="457200"/>
          </a:xfrm>
          <a:prstGeom prst="ellipse">
            <a:avLst/>
          </a:prstGeom>
          <a:solidFill>
            <a:srgbClr val="028090"/>
          </a:solidFill>
          <a:ln/>
        </p:spPr>
      </p:sp>
      <p:sp>
        <p:nvSpPr>
          <p:cNvPr id="22" name="Text 20"/>
          <p:cNvSpPr/>
          <p:nvPr/>
        </p:nvSpPr>
        <p:spPr>
          <a:xfrm>
            <a:off x="6245352" y="464515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6858000" y="4590288"/>
            <a:ext cx="3977640" cy="50292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Conserved Regions Go Unnoticed</a:t>
            </a:r>
            <a:endParaRPr lang="en-US" sz="1350" dirty="0"/>
          </a:p>
        </p:txBody>
      </p:sp>
      <p:sp>
        <p:nvSpPr>
          <p:cNvPr id="24" name="Text 22"/>
          <p:cNvSpPr/>
          <p:nvPr/>
        </p:nvSpPr>
        <p:spPr>
          <a:xfrm>
            <a:off x="6245352" y="5212080"/>
            <a:ext cx="4562856" cy="1005840"/>
          </a:xfrm>
          <a:prstGeom prst="rect">
            <a:avLst/>
          </a:prstGeom>
          <a:noFill/>
          <a:ln/>
        </p:spPr>
        <p:txBody>
          <a:bodyPr wrap="square" rtlCol="0" anchor="ctr"/>
          <a:lstStyle/>
          <a:p>
            <a:pPr marL="0" indent="0">
              <a:lnSpc>
                <a:spcPct val="120000"/>
              </a:lnSpc>
              <a:buNone/>
            </a:pPr>
            <a:r>
              <a:rPr lang="en-US" sz="1150" dirty="0">
                <a:solidFill>
                  <a:srgbClr val="5A6B6B"/>
                </a:solidFill>
                <a:latin typeface="Calibri" pitchFamily="34" charset="0"/>
                <a:ea typeface="Calibri" pitchFamily="34" charset="-122"/>
                <a:cs typeface="Calibri" pitchFamily="34" charset="-120"/>
              </a:rPr>
              <a:t>Without alignment, biologically important conserved motifs and similarities stay hidden.</a:t>
            </a:r>
            <a:endParaRPr lang="en-US" sz="1150" dirty="0"/>
          </a:p>
        </p:txBody>
      </p:sp>
      <p:sp>
        <p:nvSpPr>
          <p:cNvPr id="25" name="Text 23"/>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6B"/>
                </a:solidFill>
                <a:latin typeface="Calibri" pitchFamily="34" charset="0"/>
                <a:ea typeface="Calibri" pitchFamily="34" charset="-122"/>
                <a:cs typeface="Calibri" pitchFamily="34" charset="-120"/>
              </a:rPr>
              <a:t>DNA &amp; Protein Sequence Alignment — Needleman–Wunsch</a:t>
            </a:r>
            <a:endParaRPr lang="en-US" sz="900" dirty="0"/>
          </a:p>
        </p:txBody>
      </p:sp>
      <p:sp>
        <p:nvSpPr>
          <p:cNvPr id="26" name="Text 24"/>
          <p:cNvSpPr/>
          <p:nvPr/>
        </p:nvSpPr>
        <p:spPr>
          <a:xfrm>
            <a:off x="11365992" y="6473952"/>
            <a:ext cx="457200" cy="274320"/>
          </a:xfrm>
          <a:prstGeom prst="rect">
            <a:avLst/>
          </a:prstGeom>
          <a:noFill/>
          <a:ln/>
        </p:spPr>
        <p:txBody>
          <a:bodyPr wrap="square" rtlCol="0" anchor="ctr"/>
          <a:lstStyle/>
          <a:p>
            <a:pPr marL="0" indent="0" algn="r">
              <a:buNone/>
            </a:pPr>
            <a:r>
              <a:rPr lang="en-US" sz="900" dirty="0">
                <a:solidFill>
                  <a:srgbClr val="5A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21208"/>
            <a:ext cx="146304" cy="146304"/>
          </a:xfrm>
          <a:prstGeom prst="ellipse">
            <a:avLst/>
          </a:prstGeom>
          <a:solidFill>
            <a:srgbClr val="028090"/>
          </a:solidFill>
          <a:ln/>
        </p:spPr>
      </p:sp>
      <p:sp>
        <p:nvSpPr>
          <p:cNvPr id="3" name="Text 1"/>
          <p:cNvSpPr/>
          <p:nvPr/>
        </p:nvSpPr>
        <p:spPr>
          <a:xfrm>
            <a:off x="822960" y="393192"/>
            <a:ext cx="7315200" cy="365760"/>
          </a:xfrm>
          <a:prstGeom prst="rect">
            <a:avLst/>
          </a:prstGeom>
          <a:noFill/>
          <a:ln/>
        </p:spPr>
        <p:txBody>
          <a:bodyPr wrap="square" rtlCol="0" anchor="ctr"/>
          <a:lstStyle/>
          <a:p>
            <a:pPr marL="0" indent="0">
              <a:buNone/>
            </a:pPr>
            <a:r>
              <a:rPr lang="en-US" sz="2000" b="1" dirty="0">
                <a:solidFill>
                  <a:srgbClr val="16324F"/>
                </a:solidFill>
                <a:latin typeface="Cambria" pitchFamily="34" charset="0"/>
                <a:ea typeface="Cambria" pitchFamily="34" charset="-122"/>
                <a:cs typeface="Cambria" pitchFamily="34" charset="-120"/>
              </a:rPr>
              <a:t>Proposed Functionalities</a:t>
            </a:r>
            <a:endParaRPr lang="en-US" sz="2000" dirty="0"/>
          </a:p>
        </p:txBody>
      </p:sp>
      <p:sp>
        <p:nvSpPr>
          <p:cNvPr id="4" name="Shape 2"/>
          <p:cNvSpPr/>
          <p:nvPr/>
        </p:nvSpPr>
        <p:spPr>
          <a:xfrm>
            <a:off x="548640" y="1234440"/>
            <a:ext cx="3346704" cy="2331720"/>
          </a:xfrm>
          <a:prstGeom prst="roundRect">
            <a:avLst>
              <a:gd name="adj" fmla="val 3529"/>
            </a:avLst>
          </a:prstGeom>
          <a:solidFill>
            <a:srgbClr val="F2F7F6"/>
          </a:solidFill>
          <a:ln/>
        </p:spPr>
      </p:sp>
      <p:sp>
        <p:nvSpPr>
          <p:cNvPr id="5" name="Shape 3"/>
          <p:cNvSpPr/>
          <p:nvPr/>
        </p:nvSpPr>
        <p:spPr>
          <a:xfrm>
            <a:off x="749808" y="1490472"/>
            <a:ext cx="384048" cy="384048"/>
          </a:xfrm>
          <a:prstGeom prst="ellipse">
            <a:avLst/>
          </a:prstGeom>
          <a:solidFill>
            <a:srgbClr val="028090"/>
          </a:solidFill>
          <a:ln/>
        </p:spPr>
      </p:sp>
      <p:sp>
        <p:nvSpPr>
          <p:cNvPr id="6" name="Text 4"/>
          <p:cNvSpPr/>
          <p:nvPr/>
        </p:nvSpPr>
        <p:spPr>
          <a:xfrm>
            <a:off x="749808" y="1490472"/>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749808" y="2011680"/>
            <a:ext cx="2944368" cy="502920"/>
          </a:xfrm>
          <a:prstGeom prst="rect">
            <a:avLst/>
          </a:prstGeom>
          <a:noFill/>
          <a:ln/>
        </p:spPr>
        <p:txBody>
          <a:bodyPr wrap="square" rtlCol="0" anchor="ctr"/>
          <a:lstStyle/>
          <a:p>
            <a:pPr marL="0" indent="0">
              <a:buNone/>
            </a:pPr>
            <a:r>
              <a:rPr lang="en-US" sz="1300" b="1" dirty="0">
                <a:solidFill>
                  <a:srgbClr val="16324F"/>
                </a:solidFill>
                <a:latin typeface="Calibri" pitchFamily="34" charset="0"/>
                <a:ea typeface="Calibri" pitchFamily="34" charset="-122"/>
                <a:cs typeface="Calibri" pitchFamily="34" charset="-120"/>
              </a:rPr>
              <a:t>Sequence Input</a:t>
            </a:r>
            <a:endParaRPr lang="en-US" sz="1300" dirty="0"/>
          </a:p>
        </p:txBody>
      </p:sp>
      <p:sp>
        <p:nvSpPr>
          <p:cNvPr id="8" name="Text 6"/>
          <p:cNvSpPr/>
          <p:nvPr/>
        </p:nvSpPr>
        <p:spPr>
          <a:xfrm>
            <a:off x="749808" y="2468880"/>
            <a:ext cx="2944368" cy="1005840"/>
          </a:xfrm>
          <a:prstGeom prst="rect">
            <a:avLst/>
          </a:prstGeom>
          <a:noFill/>
          <a:ln/>
        </p:spPr>
        <p:txBody>
          <a:bodyPr wrap="square" rtlCol="0" anchor="ctr"/>
          <a:lstStyle/>
          <a:p>
            <a:pPr marL="0" indent="0">
              <a:lnSpc>
                <a:spcPct val="120000"/>
              </a:lnSpc>
              <a:buNone/>
            </a:pPr>
            <a:r>
              <a:rPr lang="en-US" sz="1050" dirty="0">
                <a:solidFill>
                  <a:srgbClr val="5A6B6B"/>
                </a:solidFill>
                <a:latin typeface="Calibri" pitchFamily="34" charset="0"/>
                <a:ea typeface="Calibri" pitchFamily="34" charset="-122"/>
                <a:cs typeface="Calibri" pitchFamily="34" charset="-120"/>
              </a:rPr>
              <a:t>Accept DNA (A, T, G, C) or protein (amino acid) sequences as input from the user.</a:t>
            </a:r>
            <a:endParaRPr lang="en-US" sz="1050" dirty="0"/>
          </a:p>
        </p:txBody>
      </p:sp>
      <p:sp>
        <p:nvSpPr>
          <p:cNvPr id="9" name="Shape 7"/>
          <p:cNvSpPr/>
          <p:nvPr/>
        </p:nvSpPr>
        <p:spPr>
          <a:xfrm>
            <a:off x="4151376" y="1234440"/>
            <a:ext cx="3346704" cy="2331720"/>
          </a:xfrm>
          <a:prstGeom prst="roundRect">
            <a:avLst>
              <a:gd name="adj" fmla="val 3529"/>
            </a:avLst>
          </a:prstGeom>
          <a:solidFill>
            <a:srgbClr val="F2F7F6"/>
          </a:solidFill>
          <a:ln/>
        </p:spPr>
      </p:sp>
      <p:sp>
        <p:nvSpPr>
          <p:cNvPr id="10" name="Shape 8"/>
          <p:cNvSpPr/>
          <p:nvPr/>
        </p:nvSpPr>
        <p:spPr>
          <a:xfrm>
            <a:off x="4352544" y="1490472"/>
            <a:ext cx="384048" cy="384048"/>
          </a:xfrm>
          <a:prstGeom prst="ellipse">
            <a:avLst/>
          </a:prstGeom>
          <a:solidFill>
            <a:srgbClr val="00A896"/>
          </a:solidFill>
          <a:ln/>
        </p:spPr>
      </p:sp>
      <p:sp>
        <p:nvSpPr>
          <p:cNvPr id="11" name="Text 9"/>
          <p:cNvSpPr/>
          <p:nvPr/>
        </p:nvSpPr>
        <p:spPr>
          <a:xfrm>
            <a:off x="4352544" y="1490472"/>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4352544" y="2011680"/>
            <a:ext cx="2944368" cy="502920"/>
          </a:xfrm>
          <a:prstGeom prst="rect">
            <a:avLst/>
          </a:prstGeom>
          <a:noFill/>
          <a:ln/>
        </p:spPr>
        <p:txBody>
          <a:bodyPr wrap="square" rtlCol="0" anchor="ctr"/>
          <a:lstStyle/>
          <a:p>
            <a:pPr marL="0" indent="0">
              <a:buNone/>
            </a:pPr>
            <a:r>
              <a:rPr lang="en-US" sz="1300" b="1" dirty="0">
                <a:solidFill>
                  <a:srgbClr val="16324F"/>
                </a:solidFill>
                <a:latin typeface="Calibri" pitchFamily="34" charset="0"/>
                <a:ea typeface="Calibri" pitchFamily="34" charset="-122"/>
                <a:cs typeface="Calibri" pitchFamily="34" charset="-120"/>
              </a:rPr>
              <a:t>Scoring Matrix Setup</a:t>
            </a:r>
            <a:endParaRPr lang="en-US" sz="1300" dirty="0"/>
          </a:p>
        </p:txBody>
      </p:sp>
      <p:sp>
        <p:nvSpPr>
          <p:cNvPr id="13" name="Text 11"/>
          <p:cNvSpPr/>
          <p:nvPr/>
        </p:nvSpPr>
        <p:spPr>
          <a:xfrm>
            <a:off x="4352544" y="2468880"/>
            <a:ext cx="2944368" cy="1005840"/>
          </a:xfrm>
          <a:prstGeom prst="rect">
            <a:avLst/>
          </a:prstGeom>
          <a:noFill/>
          <a:ln/>
        </p:spPr>
        <p:txBody>
          <a:bodyPr wrap="square" rtlCol="0" anchor="ctr"/>
          <a:lstStyle/>
          <a:p>
            <a:pPr marL="0" indent="0">
              <a:lnSpc>
                <a:spcPct val="120000"/>
              </a:lnSpc>
              <a:buNone/>
            </a:pPr>
            <a:r>
              <a:rPr lang="en-US" sz="1050" dirty="0">
                <a:solidFill>
                  <a:srgbClr val="5A6B6B"/>
                </a:solidFill>
                <a:latin typeface="Calibri" pitchFamily="34" charset="0"/>
                <a:ea typeface="Calibri" pitchFamily="34" charset="-122"/>
                <a:cs typeface="Calibri" pitchFamily="34" charset="-120"/>
              </a:rPr>
              <a:t>Configure match score, mismatch penalty, and gap penalty before alignment.</a:t>
            </a:r>
            <a:endParaRPr lang="en-US" sz="1050" dirty="0"/>
          </a:p>
        </p:txBody>
      </p:sp>
      <p:sp>
        <p:nvSpPr>
          <p:cNvPr id="14" name="Shape 12"/>
          <p:cNvSpPr/>
          <p:nvPr/>
        </p:nvSpPr>
        <p:spPr>
          <a:xfrm>
            <a:off x="7754112" y="1234440"/>
            <a:ext cx="3346704" cy="2331720"/>
          </a:xfrm>
          <a:prstGeom prst="roundRect">
            <a:avLst>
              <a:gd name="adj" fmla="val 3529"/>
            </a:avLst>
          </a:prstGeom>
          <a:solidFill>
            <a:srgbClr val="F2F7F6"/>
          </a:solidFill>
          <a:ln/>
        </p:spPr>
      </p:sp>
      <p:sp>
        <p:nvSpPr>
          <p:cNvPr id="15" name="Shape 13"/>
          <p:cNvSpPr/>
          <p:nvPr/>
        </p:nvSpPr>
        <p:spPr>
          <a:xfrm>
            <a:off x="7955280" y="1490472"/>
            <a:ext cx="384048" cy="384048"/>
          </a:xfrm>
          <a:prstGeom prst="ellipse">
            <a:avLst/>
          </a:prstGeom>
          <a:solidFill>
            <a:srgbClr val="02C39A"/>
          </a:solidFill>
          <a:ln/>
        </p:spPr>
      </p:sp>
      <p:sp>
        <p:nvSpPr>
          <p:cNvPr id="16" name="Text 14"/>
          <p:cNvSpPr/>
          <p:nvPr/>
        </p:nvSpPr>
        <p:spPr>
          <a:xfrm>
            <a:off x="7955280" y="1490472"/>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7955280" y="2011680"/>
            <a:ext cx="2944368" cy="502920"/>
          </a:xfrm>
          <a:prstGeom prst="rect">
            <a:avLst/>
          </a:prstGeom>
          <a:noFill/>
          <a:ln/>
        </p:spPr>
        <p:txBody>
          <a:bodyPr wrap="square" rtlCol="0" anchor="ctr"/>
          <a:lstStyle/>
          <a:p>
            <a:pPr marL="0" indent="0">
              <a:buNone/>
            </a:pPr>
            <a:r>
              <a:rPr lang="en-US" sz="1300" b="1" dirty="0">
                <a:solidFill>
                  <a:srgbClr val="16324F"/>
                </a:solidFill>
                <a:latin typeface="Calibri" pitchFamily="34" charset="0"/>
                <a:ea typeface="Calibri" pitchFamily="34" charset="-122"/>
                <a:cs typeface="Calibri" pitchFamily="34" charset="-120"/>
              </a:rPr>
              <a:t>DP Matrix Construction</a:t>
            </a:r>
            <a:endParaRPr lang="en-US" sz="1300" dirty="0"/>
          </a:p>
        </p:txBody>
      </p:sp>
      <p:sp>
        <p:nvSpPr>
          <p:cNvPr id="18" name="Text 16"/>
          <p:cNvSpPr/>
          <p:nvPr/>
        </p:nvSpPr>
        <p:spPr>
          <a:xfrm>
            <a:off x="7955280" y="2468880"/>
            <a:ext cx="2944368" cy="1005840"/>
          </a:xfrm>
          <a:prstGeom prst="rect">
            <a:avLst/>
          </a:prstGeom>
          <a:noFill/>
          <a:ln/>
        </p:spPr>
        <p:txBody>
          <a:bodyPr wrap="square" rtlCol="0" anchor="ctr"/>
          <a:lstStyle/>
          <a:p>
            <a:pPr marL="0" indent="0">
              <a:lnSpc>
                <a:spcPct val="120000"/>
              </a:lnSpc>
              <a:buNone/>
            </a:pPr>
            <a:r>
              <a:rPr lang="en-US" sz="1050" dirty="0">
                <a:solidFill>
                  <a:srgbClr val="5A6B6B"/>
                </a:solidFill>
                <a:latin typeface="Calibri" pitchFamily="34" charset="0"/>
                <a:ea typeface="Calibri" pitchFamily="34" charset="-122"/>
                <a:cs typeface="Calibri" pitchFamily="34" charset="-120"/>
              </a:rPr>
              <a:t>Build the Needleman–Wunsch scoring matrix using dynamic programming.</a:t>
            </a:r>
            <a:endParaRPr lang="en-US" sz="1050" dirty="0"/>
          </a:p>
        </p:txBody>
      </p:sp>
      <p:sp>
        <p:nvSpPr>
          <p:cNvPr id="19" name="Shape 17"/>
          <p:cNvSpPr/>
          <p:nvPr/>
        </p:nvSpPr>
        <p:spPr>
          <a:xfrm>
            <a:off x="548640" y="3840480"/>
            <a:ext cx="3346704" cy="2331720"/>
          </a:xfrm>
          <a:prstGeom prst="roundRect">
            <a:avLst>
              <a:gd name="adj" fmla="val 3529"/>
            </a:avLst>
          </a:prstGeom>
          <a:solidFill>
            <a:srgbClr val="F2F7F6"/>
          </a:solidFill>
          <a:ln/>
        </p:spPr>
      </p:sp>
      <p:sp>
        <p:nvSpPr>
          <p:cNvPr id="20" name="Shape 18"/>
          <p:cNvSpPr/>
          <p:nvPr/>
        </p:nvSpPr>
        <p:spPr>
          <a:xfrm>
            <a:off x="749808" y="4096512"/>
            <a:ext cx="384048" cy="384048"/>
          </a:xfrm>
          <a:prstGeom prst="ellipse">
            <a:avLst/>
          </a:prstGeom>
          <a:solidFill>
            <a:srgbClr val="028090"/>
          </a:solidFill>
          <a:ln/>
        </p:spPr>
      </p:sp>
      <p:sp>
        <p:nvSpPr>
          <p:cNvPr id="21" name="Text 19"/>
          <p:cNvSpPr/>
          <p:nvPr/>
        </p:nvSpPr>
        <p:spPr>
          <a:xfrm>
            <a:off x="749808" y="4096512"/>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49808" y="4617720"/>
            <a:ext cx="2944368" cy="502920"/>
          </a:xfrm>
          <a:prstGeom prst="rect">
            <a:avLst/>
          </a:prstGeom>
          <a:noFill/>
          <a:ln/>
        </p:spPr>
        <p:txBody>
          <a:bodyPr wrap="square" rtlCol="0" anchor="ctr"/>
          <a:lstStyle/>
          <a:p>
            <a:pPr marL="0" indent="0">
              <a:buNone/>
            </a:pPr>
            <a:r>
              <a:rPr lang="en-US" sz="1300" b="1" dirty="0">
                <a:solidFill>
                  <a:srgbClr val="16324F"/>
                </a:solidFill>
                <a:latin typeface="Calibri" pitchFamily="34" charset="0"/>
                <a:ea typeface="Calibri" pitchFamily="34" charset="-122"/>
                <a:cs typeface="Calibri" pitchFamily="34" charset="-120"/>
              </a:rPr>
              <a:t>Traceback &amp; Alignment</a:t>
            </a:r>
            <a:endParaRPr lang="en-US" sz="1300" dirty="0"/>
          </a:p>
        </p:txBody>
      </p:sp>
      <p:sp>
        <p:nvSpPr>
          <p:cNvPr id="23" name="Text 21"/>
          <p:cNvSpPr/>
          <p:nvPr/>
        </p:nvSpPr>
        <p:spPr>
          <a:xfrm>
            <a:off x="749808" y="5074920"/>
            <a:ext cx="2944368" cy="1005840"/>
          </a:xfrm>
          <a:prstGeom prst="rect">
            <a:avLst/>
          </a:prstGeom>
          <a:noFill/>
          <a:ln/>
        </p:spPr>
        <p:txBody>
          <a:bodyPr wrap="square" rtlCol="0" anchor="ctr"/>
          <a:lstStyle/>
          <a:p>
            <a:pPr marL="0" indent="0">
              <a:lnSpc>
                <a:spcPct val="120000"/>
              </a:lnSpc>
              <a:buNone/>
            </a:pPr>
            <a:r>
              <a:rPr lang="en-US" sz="1050" dirty="0">
                <a:solidFill>
                  <a:srgbClr val="5A6B6B"/>
                </a:solidFill>
                <a:latin typeface="Calibri" pitchFamily="34" charset="0"/>
                <a:ea typeface="Calibri" pitchFamily="34" charset="-122"/>
                <a:cs typeface="Calibri" pitchFamily="34" charset="-120"/>
              </a:rPr>
              <a:t>Trace back through the matrix to generate the optimal global alignment.</a:t>
            </a:r>
            <a:endParaRPr lang="en-US" sz="1050" dirty="0"/>
          </a:p>
        </p:txBody>
      </p:sp>
      <p:sp>
        <p:nvSpPr>
          <p:cNvPr id="24" name="Shape 22"/>
          <p:cNvSpPr/>
          <p:nvPr/>
        </p:nvSpPr>
        <p:spPr>
          <a:xfrm>
            <a:off x="4151376" y="3840480"/>
            <a:ext cx="3346704" cy="2331720"/>
          </a:xfrm>
          <a:prstGeom prst="roundRect">
            <a:avLst>
              <a:gd name="adj" fmla="val 3529"/>
            </a:avLst>
          </a:prstGeom>
          <a:solidFill>
            <a:srgbClr val="F2F7F6"/>
          </a:solidFill>
          <a:ln/>
        </p:spPr>
      </p:sp>
      <p:sp>
        <p:nvSpPr>
          <p:cNvPr id="25" name="Shape 23"/>
          <p:cNvSpPr/>
          <p:nvPr/>
        </p:nvSpPr>
        <p:spPr>
          <a:xfrm>
            <a:off x="4352544" y="4096512"/>
            <a:ext cx="384048" cy="384048"/>
          </a:xfrm>
          <a:prstGeom prst="ellipse">
            <a:avLst/>
          </a:prstGeom>
          <a:solidFill>
            <a:srgbClr val="00A896"/>
          </a:solidFill>
          <a:ln/>
        </p:spPr>
      </p:sp>
      <p:sp>
        <p:nvSpPr>
          <p:cNvPr id="26" name="Text 24"/>
          <p:cNvSpPr/>
          <p:nvPr/>
        </p:nvSpPr>
        <p:spPr>
          <a:xfrm>
            <a:off x="4352544" y="4096512"/>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4352544" y="4617720"/>
            <a:ext cx="2944368" cy="502920"/>
          </a:xfrm>
          <a:prstGeom prst="rect">
            <a:avLst/>
          </a:prstGeom>
          <a:noFill/>
          <a:ln/>
        </p:spPr>
        <p:txBody>
          <a:bodyPr wrap="square" rtlCol="0" anchor="ctr"/>
          <a:lstStyle/>
          <a:p>
            <a:pPr marL="0" indent="0">
              <a:buNone/>
            </a:pPr>
            <a:r>
              <a:rPr lang="en-US" sz="1300" b="1" dirty="0">
                <a:solidFill>
                  <a:srgbClr val="16324F"/>
                </a:solidFill>
                <a:latin typeface="Calibri" pitchFamily="34" charset="0"/>
                <a:ea typeface="Calibri" pitchFamily="34" charset="-122"/>
                <a:cs typeface="Calibri" pitchFamily="34" charset="-120"/>
              </a:rPr>
              <a:t>Conserved Region Detection</a:t>
            </a:r>
            <a:endParaRPr lang="en-US" sz="1300" dirty="0"/>
          </a:p>
        </p:txBody>
      </p:sp>
      <p:sp>
        <p:nvSpPr>
          <p:cNvPr id="28" name="Text 26"/>
          <p:cNvSpPr/>
          <p:nvPr/>
        </p:nvSpPr>
        <p:spPr>
          <a:xfrm>
            <a:off x="4352544" y="5074920"/>
            <a:ext cx="2944368" cy="1005840"/>
          </a:xfrm>
          <a:prstGeom prst="rect">
            <a:avLst/>
          </a:prstGeom>
          <a:noFill/>
          <a:ln/>
        </p:spPr>
        <p:txBody>
          <a:bodyPr wrap="square" rtlCol="0" anchor="ctr"/>
          <a:lstStyle/>
          <a:p>
            <a:pPr marL="0" indent="0">
              <a:lnSpc>
                <a:spcPct val="120000"/>
              </a:lnSpc>
              <a:buNone/>
            </a:pPr>
            <a:r>
              <a:rPr lang="en-US" sz="1050" dirty="0">
                <a:solidFill>
                  <a:srgbClr val="5A6B6B"/>
                </a:solidFill>
                <a:latin typeface="Calibri" pitchFamily="34" charset="0"/>
                <a:ea typeface="Calibri" pitchFamily="34" charset="-122"/>
                <a:cs typeface="Calibri" pitchFamily="34" charset="-120"/>
              </a:rPr>
              <a:t>Highlight matching regions and motifs shared between the two sequences.</a:t>
            </a:r>
            <a:endParaRPr lang="en-US" sz="1050" dirty="0"/>
          </a:p>
        </p:txBody>
      </p:sp>
      <p:sp>
        <p:nvSpPr>
          <p:cNvPr id="29" name="Shape 27"/>
          <p:cNvSpPr/>
          <p:nvPr/>
        </p:nvSpPr>
        <p:spPr>
          <a:xfrm>
            <a:off x="7754112" y="3840480"/>
            <a:ext cx="3346704" cy="2331720"/>
          </a:xfrm>
          <a:prstGeom prst="roundRect">
            <a:avLst>
              <a:gd name="adj" fmla="val 3529"/>
            </a:avLst>
          </a:prstGeom>
          <a:solidFill>
            <a:srgbClr val="F2F7F6"/>
          </a:solidFill>
          <a:ln/>
        </p:spPr>
      </p:sp>
      <p:sp>
        <p:nvSpPr>
          <p:cNvPr id="30" name="Shape 28"/>
          <p:cNvSpPr/>
          <p:nvPr/>
        </p:nvSpPr>
        <p:spPr>
          <a:xfrm>
            <a:off x="7955280" y="4096512"/>
            <a:ext cx="384048" cy="384048"/>
          </a:xfrm>
          <a:prstGeom prst="ellipse">
            <a:avLst/>
          </a:prstGeom>
          <a:solidFill>
            <a:srgbClr val="02C39A"/>
          </a:solidFill>
          <a:ln/>
        </p:spPr>
      </p:sp>
      <p:sp>
        <p:nvSpPr>
          <p:cNvPr id="31" name="Text 29"/>
          <p:cNvSpPr/>
          <p:nvPr/>
        </p:nvSpPr>
        <p:spPr>
          <a:xfrm>
            <a:off x="7955280" y="4096512"/>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7955280" y="4617720"/>
            <a:ext cx="2944368" cy="502920"/>
          </a:xfrm>
          <a:prstGeom prst="rect">
            <a:avLst/>
          </a:prstGeom>
          <a:noFill/>
          <a:ln/>
        </p:spPr>
        <p:txBody>
          <a:bodyPr wrap="square" rtlCol="0" anchor="ctr"/>
          <a:lstStyle/>
          <a:p>
            <a:pPr marL="0" indent="0">
              <a:buNone/>
            </a:pPr>
            <a:r>
              <a:rPr lang="en-US" sz="1300" b="1" dirty="0">
                <a:solidFill>
                  <a:srgbClr val="16324F"/>
                </a:solidFill>
                <a:latin typeface="Calibri" pitchFamily="34" charset="0"/>
                <a:ea typeface="Calibri" pitchFamily="34" charset="-122"/>
                <a:cs typeface="Calibri" pitchFamily="34" charset="-120"/>
              </a:rPr>
              <a:t>Alignment Score &amp; Output</a:t>
            </a:r>
            <a:endParaRPr lang="en-US" sz="1300" dirty="0"/>
          </a:p>
        </p:txBody>
      </p:sp>
      <p:sp>
        <p:nvSpPr>
          <p:cNvPr id="33" name="Text 31"/>
          <p:cNvSpPr/>
          <p:nvPr/>
        </p:nvSpPr>
        <p:spPr>
          <a:xfrm>
            <a:off x="7955280" y="5074920"/>
            <a:ext cx="2944368" cy="1005840"/>
          </a:xfrm>
          <a:prstGeom prst="rect">
            <a:avLst/>
          </a:prstGeom>
          <a:noFill/>
          <a:ln/>
        </p:spPr>
        <p:txBody>
          <a:bodyPr wrap="square" rtlCol="0" anchor="ctr"/>
          <a:lstStyle/>
          <a:p>
            <a:pPr marL="0" indent="0">
              <a:lnSpc>
                <a:spcPct val="120000"/>
              </a:lnSpc>
              <a:buNone/>
            </a:pPr>
            <a:r>
              <a:rPr lang="en-US" sz="1050" dirty="0">
                <a:solidFill>
                  <a:srgbClr val="5A6B6B"/>
                </a:solidFill>
                <a:latin typeface="Calibri" pitchFamily="34" charset="0"/>
                <a:ea typeface="Calibri" pitchFamily="34" charset="-122"/>
                <a:cs typeface="Calibri" pitchFamily="34" charset="-120"/>
              </a:rPr>
              <a:t>Display the final alignment score along with the aligned sequences visually.</a:t>
            </a:r>
            <a:endParaRPr lang="en-US" sz="1050" dirty="0"/>
          </a:p>
        </p:txBody>
      </p:sp>
      <p:sp>
        <p:nvSpPr>
          <p:cNvPr id="34" name="Text 32"/>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6B"/>
                </a:solidFill>
                <a:latin typeface="Calibri" pitchFamily="34" charset="0"/>
                <a:ea typeface="Calibri" pitchFamily="34" charset="-122"/>
                <a:cs typeface="Calibri" pitchFamily="34" charset="-120"/>
              </a:rPr>
              <a:t>DNA &amp; Protein Sequence Alignment — Needleman–Wunsch</a:t>
            </a:r>
            <a:endParaRPr lang="en-US" sz="900" dirty="0"/>
          </a:p>
        </p:txBody>
      </p:sp>
      <p:sp>
        <p:nvSpPr>
          <p:cNvPr id="35" name="Text 33"/>
          <p:cNvSpPr/>
          <p:nvPr/>
        </p:nvSpPr>
        <p:spPr>
          <a:xfrm>
            <a:off x="11365992" y="6473952"/>
            <a:ext cx="457200" cy="274320"/>
          </a:xfrm>
          <a:prstGeom prst="rect">
            <a:avLst/>
          </a:prstGeom>
          <a:noFill/>
          <a:ln/>
        </p:spPr>
        <p:txBody>
          <a:bodyPr wrap="square" rtlCol="0" anchor="ctr"/>
          <a:lstStyle/>
          <a:p>
            <a:pPr marL="0" indent="0" algn="r">
              <a:buNone/>
            </a:pPr>
            <a:r>
              <a:rPr lang="en-US" sz="900" dirty="0">
                <a:solidFill>
                  <a:srgbClr val="5A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146304" y="484632"/>
            <a:ext cx="146304" cy="146304"/>
          </a:xfrm>
          <a:prstGeom prst="ellipse">
            <a:avLst/>
          </a:prstGeom>
          <a:solidFill>
            <a:srgbClr val="02C39A"/>
          </a:solidFill>
          <a:ln/>
        </p:spPr>
      </p:sp>
      <p:sp>
        <p:nvSpPr>
          <p:cNvPr id="3" name="Text 1"/>
          <p:cNvSpPr/>
          <p:nvPr/>
        </p:nvSpPr>
        <p:spPr>
          <a:xfrm>
            <a:off x="420624" y="365760"/>
            <a:ext cx="7315200" cy="36576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Tools and Technologies</a:t>
            </a:r>
            <a:endParaRPr lang="en-US" sz="2000" dirty="0"/>
          </a:p>
        </p:txBody>
      </p:sp>
      <p:sp>
        <p:nvSpPr>
          <p:cNvPr id="4" name="Shape 2"/>
          <p:cNvSpPr/>
          <p:nvPr/>
        </p:nvSpPr>
        <p:spPr>
          <a:xfrm>
            <a:off x="548640" y="1143000"/>
            <a:ext cx="5349240" cy="1417320"/>
          </a:xfrm>
          <a:prstGeom prst="roundRect">
            <a:avLst>
              <a:gd name="adj" fmla="val 5806"/>
            </a:avLst>
          </a:prstGeom>
          <a:solidFill>
            <a:srgbClr val="1E4A5F"/>
          </a:solidFill>
          <a:ln/>
        </p:spPr>
      </p:sp>
      <p:sp>
        <p:nvSpPr>
          <p:cNvPr id="5" name="Shape 3"/>
          <p:cNvSpPr/>
          <p:nvPr/>
        </p:nvSpPr>
        <p:spPr>
          <a:xfrm>
            <a:off x="749808" y="1344168"/>
            <a:ext cx="329184" cy="329184"/>
          </a:xfrm>
          <a:prstGeom prst="ellipse">
            <a:avLst/>
          </a:prstGeom>
          <a:solidFill>
            <a:srgbClr val="00A896"/>
          </a:solidFill>
          <a:ln/>
        </p:spPr>
      </p:sp>
      <p:sp>
        <p:nvSpPr>
          <p:cNvPr id="6" name="Text 4"/>
          <p:cNvSpPr/>
          <p:nvPr/>
        </p:nvSpPr>
        <p:spPr>
          <a:xfrm>
            <a:off x="749808" y="1344168"/>
            <a:ext cx="329184" cy="329184"/>
          </a:xfrm>
          <a:prstGeom prst="rect">
            <a:avLst/>
          </a:prstGeom>
          <a:noFill/>
          <a:ln/>
        </p:spPr>
        <p:txBody>
          <a:bodyPr wrap="square" rtlCol="0" anchor="ctr"/>
          <a:lstStyle/>
          <a:p>
            <a:pPr marL="0" indent="0" algn="ctr">
              <a:buNone/>
            </a:pPr>
            <a:r>
              <a:rPr lang="en-US" sz="1300" b="1" dirty="0">
                <a:solidFill>
                  <a:srgbClr val="16324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207008" y="1280160"/>
            <a:ext cx="44805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Programming Language</a:t>
            </a:r>
            <a:endParaRPr lang="en-US" sz="1300" dirty="0"/>
          </a:p>
        </p:txBody>
      </p:sp>
      <p:sp>
        <p:nvSpPr>
          <p:cNvPr id="8" name="Text 6"/>
          <p:cNvSpPr/>
          <p:nvPr/>
        </p:nvSpPr>
        <p:spPr>
          <a:xfrm>
            <a:off x="749808" y="1737360"/>
            <a:ext cx="4946904" cy="777240"/>
          </a:xfrm>
          <a:prstGeom prst="rect">
            <a:avLst/>
          </a:prstGeom>
          <a:noFill/>
          <a:ln/>
        </p:spPr>
        <p:txBody>
          <a:bodyPr wrap="square" rtlCol="0" anchor="ctr"/>
          <a:lstStyle/>
          <a:p>
            <a:pPr marL="0" indent="0">
              <a:lnSpc>
                <a:spcPct val="120000"/>
              </a:lnSpc>
              <a:buNone/>
            </a:pPr>
            <a:r>
              <a:rPr lang="en-US" sz="1050" dirty="0">
                <a:solidFill>
                  <a:srgbClr val="CFE3E0"/>
                </a:solidFill>
                <a:latin typeface="Calibri" pitchFamily="34" charset="0"/>
                <a:ea typeface="Calibri" pitchFamily="34" charset="-122"/>
                <a:cs typeface="Calibri" pitchFamily="34" charset="-120"/>
              </a:rPr>
              <a:t>Python / Java / C++ — used to implement the core Needleman–Wunsch algorithm and matrix logic.</a:t>
            </a:r>
            <a:endParaRPr lang="en-US" sz="1050" dirty="0"/>
          </a:p>
        </p:txBody>
      </p:sp>
      <p:sp>
        <p:nvSpPr>
          <p:cNvPr id="9" name="Shape 7"/>
          <p:cNvSpPr/>
          <p:nvPr/>
        </p:nvSpPr>
        <p:spPr>
          <a:xfrm>
            <a:off x="6172200" y="1143000"/>
            <a:ext cx="5349240" cy="1417320"/>
          </a:xfrm>
          <a:prstGeom prst="roundRect">
            <a:avLst>
              <a:gd name="adj" fmla="val 5806"/>
            </a:avLst>
          </a:prstGeom>
          <a:solidFill>
            <a:srgbClr val="1E4A5F"/>
          </a:solidFill>
          <a:ln/>
        </p:spPr>
      </p:sp>
      <p:sp>
        <p:nvSpPr>
          <p:cNvPr id="10" name="Shape 8"/>
          <p:cNvSpPr/>
          <p:nvPr/>
        </p:nvSpPr>
        <p:spPr>
          <a:xfrm>
            <a:off x="6373368" y="1344168"/>
            <a:ext cx="329184" cy="329184"/>
          </a:xfrm>
          <a:prstGeom prst="ellipse">
            <a:avLst/>
          </a:prstGeom>
          <a:solidFill>
            <a:srgbClr val="02C39A"/>
          </a:solidFill>
          <a:ln/>
        </p:spPr>
      </p:sp>
      <p:sp>
        <p:nvSpPr>
          <p:cNvPr id="11" name="Text 9"/>
          <p:cNvSpPr/>
          <p:nvPr/>
        </p:nvSpPr>
        <p:spPr>
          <a:xfrm>
            <a:off x="6373368" y="1344168"/>
            <a:ext cx="329184" cy="329184"/>
          </a:xfrm>
          <a:prstGeom prst="rect">
            <a:avLst/>
          </a:prstGeom>
          <a:noFill/>
          <a:ln/>
        </p:spPr>
        <p:txBody>
          <a:bodyPr wrap="square" rtlCol="0" anchor="ctr"/>
          <a:lstStyle/>
          <a:p>
            <a:pPr marL="0" indent="0" algn="ctr">
              <a:buNone/>
            </a:pPr>
            <a:r>
              <a:rPr lang="en-US" sz="1300" b="1" dirty="0">
                <a:solidFill>
                  <a:srgbClr val="16324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6830568" y="1280160"/>
            <a:ext cx="44805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Structures</a:t>
            </a:r>
            <a:endParaRPr lang="en-US" sz="1300" dirty="0"/>
          </a:p>
        </p:txBody>
      </p:sp>
      <p:sp>
        <p:nvSpPr>
          <p:cNvPr id="13" name="Text 11"/>
          <p:cNvSpPr/>
          <p:nvPr/>
        </p:nvSpPr>
        <p:spPr>
          <a:xfrm>
            <a:off x="6373368" y="1737360"/>
            <a:ext cx="4946904" cy="777240"/>
          </a:xfrm>
          <a:prstGeom prst="rect">
            <a:avLst/>
          </a:prstGeom>
          <a:noFill/>
          <a:ln/>
        </p:spPr>
        <p:txBody>
          <a:bodyPr wrap="square" rtlCol="0" anchor="ctr"/>
          <a:lstStyle/>
          <a:p>
            <a:pPr marL="0" indent="0">
              <a:lnSpc>
                <a:spcPct val="120000"/>
              </a:lnSpc>
              <a:buNone/>
            </a:pPr>
            <a:r>
              <a:rPr lang="en-US" sz="1050" dirty="0">
                <a:solidFill>
                  <a:srgbClr val="CFE3E0"/>
                </a:solidFill>
                <a:latin typeface="Calibri" pitchFamily="34" charset="0"/>
                <a:ea typeface="Calibri" pitchFamily="34" charset="-122"/>
                <a:cs typeface="Calibri" pitchFamily="34" charset="-120"/>
              </a:rPr>
              <a:t>2D Arrays / Matrices for dynamic programming table and traceback pointers.</a:t>
            </a:r>
            <a:endParaRPr lang="en-US" sz="1050" dirty="0"/>
          </a:p>
        </p:txBody>
      </p:sp>
      <p:sp>
        <p:nvSpPr>
          <p:cNvPr id="14" name="Shape 12"/>
          <p:cNvSpPr/>
          <p:nvPr/>
        </p:nvSpPr>
        <p:spPr>
          <a:xfrm>
            <a:off x="548640" y="2788920"/>
            <a:ext cx="5349240" cy="1417320"/>
          </a:xfrm>
          <a:prstGeom prst="roundRect">
            <a:avLst>
              <a:gd name="adj" fmla="val 5806"/>
            </a:avLst>
          </a:prstGeom>
          <a:solidFill>
            <a:srgbClr val="1E4A5F"/>
          </a:solidFill>
          <a:ln/>
        </p:spPr>
      </p:sp>
      <p:sp>
        <p:nvSpPr>
          <p:cNvPr id="15" name="Shape 13"/>
          <p:cNvSpPr/>
          <p:nvPr/>
        </p:nvSpPr>
        <p:spPr>
          <a:xfrm>
            <a:off x="749808" y="2990088"/>
            <a:ext cx="329184" cy="329184"/>
          </a:xfrm>
          <a:prstGeom prst="ellipse">
            <a:avLst/>
          </a:prstGeom>
          <a:solidFill>
            <a:srgbClr val="00A896"/>
          </a:solidFill>
          <a:ln/>
        </p:spPr>
      </p:sp>
      <p:sp>
        <p:nvSpPr>
          <p:cNvPr id="16" name="Text 14"/>
          <p:cNvSpPr/>
          <p:nvPr/>
        </p:nvSpPr>
        <p:spPr>
          <a:xfrm>
            <a:off x="749808" y="2990088"/>
            <a:ext cx="329184" cy="329184"/>
          </a:xfrm>
          <a:prstGeom prst="rect">
            <a:avLst/>
          </a:prstGeom>
          <a:noFill/>
          <a:ln/>
        </p:spPr>
        <p:txBody>
          <a:bodyPr wrap="square" rtlCol="0" anchor="ctr"/>
          <a:lstStyle/>
          <a:p>
            <a:pPr marL="0" indent="0" algn="ctr">
              <a:buNone/>
            </a:pPr>
            <a:r>
              <a:rPr lang="en-US" sz="1300" b="1" dirty="0">
                <a:solidFill>
                  <a:srgbClr val="16324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207008" y="2926080"/>
            <a:ext cx="44805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Development Environment</a:t>
            </a:r>
            <a:endParaRPr lang="en-US" sz="1300" dirty="0"/>
          </a:p>
        </p:txBody>
      </p:sp>
      <p:sp>
        <p:nvSpPr>
          <p:cNvPr id="18" name="Text 16"/>
          <p:cNvSpPr/>
          <p:nvPr/>
        </p:nvSpPr>
        <p:spPr>
          <a:xfrm>
            <a:off x="749808" y="3383280"/>
            <a:ext cx="4946904" cy="777240"/>
          </a:xfrm>
          <a:prstGeom prst="rect">
            <a:avLst/>
          </a:prstGeom>
          <a:noFill/>
          <a:ln/>
        </p:spPr>
        <p:txBody>
          <a:bodyPr wrap="square" rtlCol="0" anchor="ctr"/>
          <a:lstStyle/>
          <a:p>
            <a:pPr marL="0" indent="0">
              <a:lnSpc>
                <a:spcPct val="120000"/>
              </a:lnSpc>
              <a:buNone/>
            </a:pPr>
            <a:r>
              <a:rPr lang="en-US" sz="1050" dirty="0">
                <a:solidFill>
                  <a:srgbClr val="CFE3E0"/>
                </a:solidFill>
                <a:latin typeface="Calibri" pitchFamily="34" charset="0"/>
                <a:ea typeface="Calibri" pitchFamily="34" charset="-122"/>
                <a:cs typeface="Calibri" pitchFamily="34" charset="-120"/>
              </a:rPr>
              <a:t>VS Code / Jupyter Notebook / any standard IDE for coding and testing.</a:t>
            </a:r>
            <a:endParaRPr lang="en-US" sz="1050" dirty="0"/>
          </a:p>
        </p:txBody>
      </p:sp>
      <p:sp>
        <p:nvSpPr>
          <p:cNvPr id="19" name="Shape 17"/>
          <p:cNvSpPr/>
          <p:nvPr/>
        </p:nvSpPr>
        <p:spPr>
          <a:xfrm>
            <a:off x="6172200" y="2788920"/>
            <a:ext cx="5349240" cy="1417320"/>
          </a:xfrm>
          <a:prstGeom prst="roundRect">
            <a:avLst>
              <a:gd name="adj" fmla="val 5806"/>
            </a:avLst>
          </a:prstGeom>
          <a:solidFill>
            <a:srgbClr val="1E4A5F"/>
          </a:solidFill>
          <a:ln/>
        </p:spPr>
      </p:sp>
      <p:sp>
        <p:nvSpPr>
          <p:cNvPr id="20" name="Shape 18"/>
          <p:cNvSpPr/>
          <p:nvPr/>
        </p:nvSpPr>
        <p:spPr>
          <a:xfrm>
            <a:off x="6373368" y="2990088"/>
            <a:ext cx="329184" cy="329184"/>
          </a:xfrm>
          <a:prstGeom prst="ellipse">
            <a:avLst/>
          </a:prstGeom>
          <a:solidFill>
            <a:srgbClr val="02C39A"/>
          </a:solidFill>
          <a:ln/>
        </p:spPr>
      </p:sp>
      <p:sp>
        <p:nvSpPr>
          <p:cNvPr id="21" name="Text 19"/>
          <p:cNvSpPr/>
          <p:nvPr/>
        </p:nvSpPr>
        <p:spPr>
          <a:xfrm>
            <a:off x="6373368" y="2990088"/>
            <a:ext cx="329184" cy="329184"/>
          </a:xfrm>
          <a:prstGeom prst="rect">
            <a:avLst/>
          </a:prstGeom>
          <a:noFill/>
          <a:ln/>
        </p:spPr>
        <p:txBody>
          <a:bodyPr wrap="square" rtlCol="0" anchor="ctr"/>
          <a:lstStyle/>
          <a:p>
            <a:pPr marL="0" indent="0" algn="ctr">
              <a:buNone/>
            </a:pPr>
            <a:r>
              <a:rPr lang="en-US" sz="1300" b="1" dirty="0">
                <a:solidFill>
                  <a:srgbClr val="16324F"/>
                </a:solidFill>
                <a:latin typeface="Cambria" pitchFamily="34" charset="0"/>
                <a:ea typeface="Cambria" pitchFamily="34" charset="-122"/>
                <a:cs typeface="Cambria" pitchFamily="34" charset="-120"/>
              </a:rPr>
              <a:t>4</a:t>
            </a:r>
            <a:endParaRPr lang="en-US" sz="1300" dirty="0"/>
          </a:p>
        </p:txBody>
      </p:sp>
      <p:sp>
        <p:nvSpPr>
          <p:cNvPr id="22" name="Text 20"/>
          <p:cNvSpPr/>
          <p:nvPr/>
        </p:nvSpPr>
        <p:spPr>
          <a:xfrm>
            <a:off x="6830568" y="2926080"/>
            <a:ext cx="44805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Visualization</a:t>
            </a:r>
            <a:endParaRPr lang="en-US" sz="1300" dirty="0"/>
          </a:p>
        </p:txBody>
      </p:sp>
      <p:sp>
        <p:nvSpPr>
          <p:cNvPr id="23" name="Text 21"/>
          <p:cNvSpPr/>
          <p:nvPr/>
        </p:nvSpPr>
        <p:spPr>
          <a:xfrm>
            <a:off x="6373368" y="3383280"/>
            <a:ext cx="4946904" cy="777240"/>
          </a:xfrm>
          <a:prstGeom prst="rect">
            <a:avLst/>
          </a:prstGeom>
          <a:noFill/>
          <a:ln/>
        </p:spPr>
        <p:txBody>
          <a:bodyPr wrap="square" rtlCol="0" anchor="ctr"/>
          <a:lstStyle/>
          <a:p>
            <a:pPr marL="0" indent="0">
              <a:lnSpc>
                <a:spcPct val="120000"/>
              </a:lnSpc>
              <a:buNone/>
            </a:pPr>
            <a:r>
              <a:rPr lang="en-US" sz="1050" dirty="0">
                <a:solidFill>
                  <a:srgbClr val="CFE3E0"/>
                </a:solidFill>
                <a:latin typeface="Calibri" pitchFamily="34" charset="0"/>
                <a:ea typeface="Calibri" pitchFamily="34" charset="-122"/>
                <a:cs typeface="Calibri" pitchFamily="34" charset="-120"/>
              </a:rPr>
              <a:t>Console or GUI (e.g. Tkinter / simple web page) to display the scoring matrix and aligned output.</a:t>
            </a:r>
            <a:endParaRPr lang="en-US" sz="1050" dirty="0"/>
          </a:p>
        </p:txBody>
      </p:sp>
      <p:sp>
        <p:nvSpPr>
          <p:cNvPr id="24" name="Shape 22"/>
          <p:cNvSpPr/>
          <p:nvPr/>
        </p:nvSpPr>
        <p:spPr>
          <a:xfrm>
            <a:off x="548640" y="4434840"/>
            <a:ext cx="5349240" cy="1417320"/>
          </a:xfrm>
          <a:prstGeom prst="roundRect">
            <a:avLst>
              <a:gd name="adj" fmla="val 5806"/>
            </a:avLst>
          </a:prstGeom>
          <a:solidFill>
            <a:srgbClr val="1E4A5F"/>
          </a:solidFill>
          <a:ln/>
        </p:spPr>
      </p:sp>
      <p:sp>
        <p:nvSpPr>
          <p:cNvPr id="25" name="Shape 23"/>
          <p:cNvSpPr/>
          <p:nvPr/>
        </p:nvSpPr>
        <p:spPr>
          <a:xfrm>
            <a:off x="749808" y="4636008"/>
            <a:ext cx="329184" cy="329184"/>
          </a:xfrm>
          <a:prstGeom prst="ellipse">
            <a:avLst/>
          </a:prstGeom>
          <a:solidFill>
            <a:srgbClr val="00A896"/>
          </a:solidFill>
          <a:ln/>
        </p:spPr>
      </p:sp>
      <p:sp>
        <p:nvSpPr>
          <p:cNvPr id="26" name="Text 24"/>
          <p:cNvSpPr/>
          <p:nvPr/>
        </p:nvSpPr>
        <p:spPr>
          <a:xfrm>
            <a:off x="749808" y="4636008"/>
            <a:ext cx="329184" cy="329184"/>
          </a:xfrm>
          <a:prstGeom prst="rect">
            <a:avLst/>
          </a:prstGeom>
          <a:noFill/>
          <a:ln/>
        </p:spPr>
        <p:txBody>
          <a:bodyPr wrap="square" rtlCol="0" anchor="ctr"/>
          <a:lstStyle/>
          <a:p>
            <a:pPr marL="0" indent="0" algn="ctr">
              <a:buNone/>
            </a:pPr>
            <a:r>
              <a:rPr lang="en-US" sz="1300" b="1" dirty="0">
                <a:solidFill>
                  <a:srgbClr val="16324F"/>
                </a:solidFill>
                <a:latin typeface="Cambria" pitchFamily="34" charset="0"/>
                <a:ea typeface="Cambria" pitchFamily="34" charset="-122"/>
                <a:cs typeface="Cambria" pitchFamily="34" charset="-120"/>
              </a:rPr>
              <a:t>5</a:t>
            </a:r>
            <a:endParaRPr lang="en-US" sz="1300" dirty="0"/>
          </a:p>
        </p:txBody>
      </p:sp>
      <p:sp>
        <p:nvSpPr>
          <p:cNvPr id="27" name="Text 25"/>
          <p:cNvSpPr/>
          <p:nvPr/>
        </p:nvSpPr>
        <p:spPr>
          <a:xfrm>
            <a:off x="1207008" y="4572000"/>
            <a:ext cx="44805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Version Control</a:t>
            </a:r>
            <a:endParaRPr lang="en-US" sz="1300" dirty="0"/>
          </a:p>
        </p:txBody>
      </p:sp>
      <p:sp>
        <p:nvSpPr>
          <p:cNvPr id="28" name="Text 26"/>
          <p:cNvSpPr/>
          <p:nvPr/>
        </p:nvSpPr>
        <p:spPr>
          <a:xfrm>
            <a:off x="749808" y="5029200"/>
            <a:ext cx="4946904" cy="777240"/>
          </a:xfrm>
          <a:prstGeom prst="rect">
            <a:avLst/>
          </a:prstGeom>
          <a:noFill/>
          <a:ln/>
        </p:spPr>
        <p:txBody>
          <a:bodyPr wrap="square" rtlCol="0" anchor="ctr"/>
          <a:lstStyle/>
          <a:p>
            <a:pPr marL="0" indent="0">
              <a:lnSpc>
                <a:spcPct val="120000"/>
              </a:lnSpc>
              <a:buNone/>
            </a:pPr>
            <a:r>
              <a:rPr lang="en-US" sz="1050" dirty="0">
                <a:solidFill>
                  <a:srgbClr val="CFE3E0"/>
                </a:solidFill>
                <a:latin typeface="Calibri" pitchFamily="34" charset="0"/>
                <a:ea typeface="Calibri" pitchFamily="34" charset="-122"/>
                <a:cs typeface="Calibri" pitchFamily="34" charset="-120"/>
              </a:rPr>
              <a:t>Git &amp; GitHub for tracking project progress and code management.</a:t>
            </a:r>
            <a:endParaRPr lang="en-US" sz="1050" dirty="0"/>
          </a:p>
        </p:txBody>
      </p:sp>
      <p:sp>
        <p:nvSpPr>
          <p:cNvPr id="29" name="Shape 27"/>
          <p:cNvSpPr/>
          <p:nvPr/>
        </p:nvSpPr>
        <p:spPr>
          <a:xfrm>
            <a:off x="6172200" y="4434840"/>
            <a:ext cx="5349240" cy="1417320"/>
          </a:xfrm>
          <a:prstGeom prst="roundRect">
            <a:avLst>
              <a:gd name="adj" fmla="val 5806"/>
            </a:avLst>
          </a:prstGeom>
          <a:solidFill>
            <a:srgbClr val="1E4A5F"/>
          </a:solidFill>
          <a:ln/>
        </p:spPr>
      </p:sp>
      <p:sp>
        <p:nvSpPr>
          <p:cNvPr id="30" name="Shape 28"/>
          <p:cNvSpPr/>
          <p:nvPr/>
        </p:nvSpPr>
        <p:spPr>
          <a:xfrm>
            <a:off x="6373368" y="4636008"/>
            <a:ext cx="329184" cy="329184"/>
          </a:xfrm>
          <a:prstGeom prst="ellipse">
            <a:avLst/>
          </a:prstGeom>
          <a:solidFill>
            <a:srgbClr val="02C39A"/>
          </a:solidFill>
          <a:ln/>
        </p:spPr>
      </p:sp>
      <p:sp>
        <p:nvSpPr>
          <p:cNvPr id="31" name="Text 29"/>
          <p:cNvSpPr/>
          <p:nvPr/>
        </p:nvSpPr>
        <p:spPr>
          <a:xfrm>
            <a:off x="6373368" y="4636008"/>
            <a:ext cx="329184" cy="329184"/>
          </a:xfrm>
          <a:prstGeom prst="rect">
            <a:avLst/>
          </a:prstGeom>
          <a:noFill/>
          <a:ln/>
        </p:spPr>
        <p:txBody>
          <a:bodyPr wrap="square" rtlCol="0" anchor="ctr"/>
          <a:lstStyle/>
          <a:p>
            <a:pPr marL="0" indent="0" algn="ctr">
              <a:buNone/>
            </a:pPr>
            <a:r>
              <a:rPr lang="en-US" sz="1300" b="1" dirty="0">
                <a:solidFill>
                  <a:srgbClr val="16324F"/>
                </a:solidFill>
                <a:latin typeface="Cambria" pitchFamily="34" charset="0"/>
                <a:ea typeface="Cambria" pitchFamily="34" charset="-122"/>
                <a:cs typeface="Cambria" pitchFamily="34" charset="-120"/>
              </a:rPr>
              <a:t>6</a:t>
            </a:r>
            <a:endParaRPr lang="en-US" sz="1300" dirty="0"/>
          </a:p>
        </p:txBody>
      </p:sp>
      <p:sp>
        <p:nvSpPr>
          <p:cNvPr id="32" name="Text 30"/>
          <p:cNvSpPr/>
          <p:nvPr/>
        </p:nvSpPr>
        <p:spPr>
          <a:xfrm>
            <a:off x="6830568" y="4572000"/>
            <a:ext cx="44805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Test Data</a:t>
            </a:r>
            <a:endParaRPr lang="en-US" sz="1300" dirty="0"/>
          </a:p>
        </p:txBody>
      </p:sp>
      <p:sp>
        <p:nvSpPr>
          <p:cNvPr id="33" name="Text 31"/>
          <p:cNvSpPr/>
          <p:nvPr/>
        </p:nvSpPr>
        <p:spPr>
          <a:xfrm>
            <a:off x="6373368" y="5029200"/>
            <a:ext cx="4946904" cy="777240"/>
          </a:xfrm>
          <a:prstGeom prst="rect">
            <a:avLst/>
          </a:prstGeom>
          <a:noFill/>
          <a:ln/>
        </p:spPr>
        <p:txBody>
          <a:bodyPr wrap="square" rtlCol="0" anchor="ctr"/>
          <a:lstStyle/>
          <a:p>
            <a:pPr marL="0" indent="0">
              <a:lnSpc>
                <a:spcPct val="120000"/>
              </a:lnSpc>
              <a:buNone/>
            </a:pPr>
            <a:r>
              <a:rPr lang="en-US" sz="1050" dirty="0">
                <a:solidFill>
                  <a:srgbClr val="CFE3E0"/>
                </a:solidFill>
                <a:latin typeface="Calibri" pitchFamily="34" charset="0"/>
                <a:ea typeface="Calibri" pitchFamily="34" charset="-122"/>
                <a:cs typeface="Calibri" pitchFamily="34" charset="-120"/>
              </a:rPr>
              <a:t>Sample DNA and protein sequences (FASTA-style inputs) for validating the alignment.</a:t>
            </a:r>
            <a:endParaRPr lang="en-US" sz="1050" dirty="0"/>
          </a:p>
        </p:txBody>
      </p:sp>
      <p:sp>
        <p:nvSpPr>
          <p:cNvPr id="34" name="Text 32"/>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9FB8C7"/>
                </a:solidFill>
                <a:latin typeface="Calibri" pitchFamily="34" charset="0"/>
                <a:ea typeface="Calibri" pitchFamily="34" charset="-122"/>
                <a:cs typeface="Calibri" pitchFamily="34" charset="-120"/>
              </a:rPr>
              <a:t>DNA &amp; Protein Sequence Alignment — Needleman–Wunsch</a:t>
            </a:r>
            <a:endParaRPr lang="en-US" sz="900" dirty="0"/>
          </a:p>
        </p:txBody>
      </p:sp>
      <p:sp>
        <p:nvSpPr>
          <p:cNvPr id="35" name="Text 33"/>
          <p:cNvSpPr/>
          <p:nvPr/>
        </p:nvSpPr>
        <p:spPr>
          <a:xfrm>
            <a:off x="11365992" y="6473952"/>
            <a:ext cx="457200" cy="274320"/>
          </a:xfrm>
          <a:prstGeom prst="rect">
            <a:avLst/>
          </a:prstGeom>
          <a:noFill/>
          <a:ln/>
        </p:spPr>
        <p:txBody>
          <a:bodyPr wrap="square" rtlCol="0" anchor="ctr"/>
          <a:lstStyle/>
          <a:p>
            <a:pPr marL="0" indent="0" algn="r">
              <a:buNone/>
            </a:pPr>
            <a:r>
              <a:rPr lang="en-US" sz="900" dirty="0">
                <a:solidFill>
                  <a:srgbClr val="9FB8C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21208"/>
            <a:ext cx="146304" cy="146304"/>
          </a:xfrm>
          <a:prstGeom prst="ellipse">
            <a:avLst/>
          </a:prstGeom>
          <a:solidFill>
            <a:srgbClr val="028090"/>
          </a:solidFill>
          <a:ln/>
        </p:spPr>
      </p:sp>
      <p:sp>
        <p:nvSpPr>
          <p:cNvPr id="3" name="Text 1"/>
          <p:cNvSpPr/>
          <p:nvPr/>
        </p:nvSpPr>
        <p:spPr>
          <a:xfrm>
            <a:off x="822960" y="393192"/>
            <a:ext cx="7315200" cy="365760"/>
          </a:xfrm>
          <a:prstGeom prst="rect">
            <a:avLst/>
          </a:prstGeom>
          <a:noFill/>
          <a:ln/>
        </p:spPr>
        <p:txBody>
          <a:bodyPr wrap="square" rtlCol="0" anchor="ctr"/>
          <a:lstStyle/>
          <a:p>
            <a:pPr marL="0" indent="0">
              <a:buNone/>
            </a:pPr>
            <a:r>
              <a:rPr lang="en-US" sz="2000" b="1" dirty="0">
                <a:solidFill>
                  <a:srgbClr val="16324F"/>
                </a:solidFill>
                <a:latin typeface="Cambria" pitchFamily="34" charset="0"/>
                <a:ea typeface="Cambria" pitchFamily="34" charset="-122"/>
                <a:cs typeface="Cambria" pitchFamily="34" charset="-120"/>
              </a:rPr>
              <a:t>Expected Outcome</a:t>
            </a:r>
            <a:endParaRPr lang="en-US" sz="2000" dirty="0"/>
          </a:p>
        </p:txBody>
      </p:sp>
      <p:sp>
        <p:nvSpPr>
          <p:cNvPr id="4" name="Text 2"/>
          <p:cNvSpPr/>
          <p:nvPr/>
        </p:nvSpPr>
        <p:spPr>
          <a:xfrm>
            <a:off x="822960" y="1051560"/>
            <a:ext cx="10515600" cy="685800"/>
          </a:xfrm>
          <a:prstGeom prst="rect">
            <a:avLst/>
          </a:prstGeom>
          <a:noFill/>
          <a:ln/>
        </p:spPr>
        <p:txBody>
          <a:bodyPr wrap="square" rtlCol="0" anchor="ctr"/>
          <a:lstStyle/>
          <a:p>
            <a:pPr marL="0" indent="0">
              <a:lnSpc>
                <a:spcPct val="125000"/>
              </a:lnSpc>
              <a:buNone/>
            </a:pPr>
            <a:r>
              <a:rPr lang="en-US" sz="1400" dirty="0">
                <a:solidFill>
                  <a:srgbClr val="2B3A3A"/>
                </a:solidFill>
                <a:latin typeface="Calibri" pitchFamily="34" charset="0"/>
                <a:ea typeface="Calibri" pitchFamily="34" charset="-122"/>
                <a:cs typeface="Calibri" pitchFamily="34" charset="-120"/>
              </a:rPr>
              <a:t>A working sequence alignment application that takes two DNA or protein sequences and produces the optimal global alignment, its score, and the biologically meaningful similarities between them.</a:t>
            </a:r>
            <a:endParaRPr lang="en-US" sz="1400" dirty="0"/>
          </a:p>
        </p:txBody>
      </p:sp>
      <p:sp>
        <p:nvSpPr>
          <p:cNvPr id="5" name="Shape 3"/>
          <p:cNvSpPr/>
          <p:nvPr/>
        </p:nvSpPr>
        <p:spPr>
          <a:xfrm>
            <a:off x="822960" y="1920240"/>
            <a:ext cx="310896" cy="310896"/>
          </a:xfrm>
          <a:prstGeom prst="ellipse">
            <a:avLst/>
          </a:prstGeom>
          <a:solidFill>
            <a:srgbClr val="028090"/>
          </a:solidFill>
          <a:ln/>
        </p:spPr>
      </p:sp>
      <p:sp>
        <p:nvSpPr>
          <p:cNvPr id="6" name="Text 4"/>
          <p:cNvSpPr/>
          <p:nvPr/>
        </p:nvSpPr>
        <p:spPr>
          <a:xfrm>
            <a:off x="822960" y="1920240"/>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325880" y="1865376"/>
            <a:ext cx="6492240" cy="502920"/>
          </a:xfrm>
          <a:prstGeom prst="rect">
            <a:avLst/>
          </a:prstGeom>
          <a:noFill/>
          <a:ln/>
        </p:spPr>
        <p:txBody>
          <a:bodyPr wrap="square" rtlCol="0" anchor="ctr"/>
          <a:lstStyle/>
          <a:p>
            <a:pPr marL="0" indent="0">
              <a:buNone/>
            </a:pPr>
            <a:r>
              <a:rPr lang="en-US" sz="1300" dirty="0">
                <a:solidFill>
                  <a:srgbClr val="2B3A3A"/>
                </a:solidFill>
                <a:latin typeface="Calibri" pitchFamily="34" charset="0"/>
                <a:ea typeface="Calibri" pitchFamily="34" charset="-122"/>
                <a:cs typeface="Calibri" pitchFamily="34" charset="-120"/>
              </a:rPr>
              <a:t>Correct optimal alignment generated for any pair of input DNA or protein sequences</a:t>
            </a:r>
            <a:endParaRPr lang="en-US" sz="1300" dirty="0"/>
          </a:p>
        </p:txBody>
      </p:sp>
      <p:sp>
        <p:nvSpPr>
          <p:cNvPr id="8" name="Shape 6"/>
          <p:cNvSpPr/>
          <p:nvPr/>
        </p:nvSpPr>
        <p:spPr>
          <a:xfrm>
            <a:off x="822960" y="2578608"/>
            <a:ext cx="310896" cy="310896"/>
          </a:xfrm>
          <a:prstGeom prst="ellipse">
            <a:avLst/>
          </a:prstGeom>
          <a:solidFill>
            <a:srgbClr val="00A896"/>
          </a:solidFill>
          <a:ln/>
        </p:spPr>
      </p:sp>
      <p:sp>
        <p:nvSpPr>
          <p:cNvPr id="9" name="Text 7"/>
          <p:cNvSpPr/>
          <p:nvPr/>
        </p:nvSpPr>
        <p:spPr>
          <a:xfrm>
            <a:off x="822960" y="2578608"/>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325880" y="2523744"/>
            <a:ext cx="6492240" cy="502920"/>
          </a:xfrm>
          <a:prstGeom prst="rect">
            <a:avLst/>
          </a:prstGeom>
          <a:noFill/>
          <a:ln/>
        </p:spPr>
        <p:txBody>
          <a:bodyPr wrap="square" rtlCol="0" anchor="ctr"/>
          <a:lstStyle/>
          <a:p>
            <a:pPr marL="0" indent="0">
              <a:buNone/>
            </a:pPr>
            <a:r>
              <a:rPr lang="en-US" sz="1300" dirty="0">
                <a:solidFill>
                  <a:srgbClr val="2B3A3A"/>
                </a:solidFill>
                <a:latin typeface="Calibri" pitchFamily="34" charset="0"/>
                <a:ea typeface="Calibri" pitchFamily="34" charset="-122"/>
                <a:cs typeface="Calibri" pitchFamily="34" charset="-120"/>
              </a:rPr>
              <a:t>Accurate alignment score computed using the chosen match, mismatch, and gap penalties</a:t>
            </a:r>
            <a:endParaRPr lang="en-US" sz="1300" dirty="0"/>
          </a:p>
        </p:txBody>
      </p:sp>
      <p:sp>
        <p:nvSpPr>
          <p:cNvPr id="11" name="Shape 9"/>
          <p:cNvSpPr/>
          <p:nvPr/>
        </p:nvSpPr>
        <p:spPr>
          <a:xfrm>
            <a:off x="822960" y="3236976"/>
            <a:ext cx="310896" cy="310896"/>
          </a:xfrm>
          <a:prstGeom prst="ellipse">
            <a:avLst/>
          </a:prstGeom>
          <a:solidFill>
            <a:srgbClr val="02C39A"/>
          </a:solidFill>
          <a:ln/>
        </p:spPr>
      </p:sp>
      <p:sp>
        <p:nvSpPr>
          <p:cNvPr id="12" name="Text 10"/>
          <p:cNvSpPr/>
          <p:nvPr/>
        </p:nvSpPr>
        <p:spPr>
          <a:xfrm>
            <a:off x="822960" y="3236976"/>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325880" y="3182112"/>
            <a:ext cx="6492240" cy="502920"/>
          </a:xfrm>
          <a:prstGeom prst="rect">
            <a:avLst/>
          </a:prstGeom>
          <a:noFill/>
          <a:ln/>
        </p:spPr>
        <p:txBody>
          <a:bodyPr wrap="square" rtlCol="0" anchor="ctr"/>
          <a:lstStyle/>
          <a:p>
            <a:pPr marL="0" indent="0">
              <a:buNone/>
            </a:pPr>
            <a:r>
              <a:rPr lang="en-US" sz="1300" dirty="0">
                <a:solidFill>
                  <a:srgbClr val="2B3A3A"/>
                </a:solidFill>
                <a:latin typeface="Calibri" pitchFamily="34" charset="0"/>
                <a:ea typeface="Calibri" pitchFamily="34" charset="-122"/>
                <a:cs typeface="Calibri" pitchFamily="34" charset="-120"/>
              </a:rPr>
              <a:t>Clear visual identification of conserved regions and motifs between sequences</a:t>
            </a:r>
            <a:endParaRPr lang="en-US" sz="1300" dirty="0"/>
          </a:p>
        </p:txBody>
      </p:sp>
      <p:sp>
        <p:nvSpPr>
          <p:cNvPr id="14" name="Shape 12"/>
          <p:cNvSpPr/>
          <p:nvPr/>
        </p:nvSpPr>
        <p:spPr>
          <a:xfrm>
            <a:off x="822960" y="3895344"/>
            <a:ext cx="310896" cy="310896"/>
          </a:xfrm>
          <a:prstGeom prst="ellipse">
            <a:avLst/>
          </a:prstGeom>
          <a:solidFill>
            <a:srgbClr val="028090"/>
          </a:solidFill>
          <a:ln/>
        </p:spPr>
      </p:sp>
      <p:sp>
        <p:nvSpPr>
          <p:cNvPr id="15" name="Text 13"/>
          <p:cNvSpPr/>
          <p:nvPr/>
        </p:nvSpPr>
        <p:spPr>
          <a:xfrm>
            <a:off x="822960" y="3895344"/>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325880" y="3840480"/>
            <a:ext cx="6492240" cy="502920"/>
          </a:xfrm>
          <a:prstGeom prst="rect">
            <a:avLst/>
          </a:prstGeom>
          <a:noFill/>
          <a:ln/>
        </p:spPr>
        <p:txBody>
          <a:bodyPr wrap="square" rtlCol="0" anchor="ctr"/>
          <a:lstStyle/>
          <a:p>
            <a:pPr marL="0" indent="0">
              <a:buNone/>
            </a:pPr>
            <a:r>
              <a:rPr lang="en-US" sz="1300" dirty="0">
                <a:solidFill>
                  <a:srgbClr val="2B3A3A"/>
                </a:solidFill>
                <a:latin typeface="Calibri" pitchFamily="34" charset="0"/>
                <a:ea typeface="Calibri" pitchFamily="34" charset="-122"/>
                <a:cs typeface="Calibri" pitchFamily="34" charset="-120"/>
              </a:rPr>
              <a:t>Better understanding of dynamic programming applied to a real bioinformatics problem</a:t>
            </a:r>
            <a:endParaRPr lang="en-US" sz="1300" dirty="0"/>
          </a:p>
        </p:txBody>
      </p:sp>
      <p:sp>
        <p:nvSpPr>
          <p:cNvPr id="17" name="Shape 15"/>
          <p:cNvSpPr/>
          <p:nvPr/>
        </p:nvSpPr>
        <p:spPr>
          <a:xfrm>
            <a:off x="822960" y="4553712"/>
            <a:ext cx="310896" cy="310896"/>
          </a:xfrm>
          <a:prstGeom prst="ellipse">
            <a:avLst/>
          </a:prstGeom>
          <a:solidFill>
            <a:srgbClr val="00A896"/>
          </a:solidFill>
          <a:ln/>
        </p:spPr>
      </p:sp>
      <p:sp>
        <p:nvSpPr>
          <p:cNvPr id="18" name="Text 16"/>
          <p:cNvSpPr/>
          <p:nvPr/>
        </p:nvSpPr>
        <p:spPr>
          <a:xfrm>
            <a:off x="822960" y="4553712"/>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325880" y="4498848"/>
            <a:ext cx="6492240" cy="502920"/>
          </a:xfrm>
          <a:prstGeom prst="rect">
            <a:avLst/>
          </a:prstGeom>
          <a:noFill/>
          <a:ln/>
        </p:spPr>
        <p:txBody>
          <a:bodyPr wrap="square" rtlCol="0" anchor="ctr"/>
          <a:lstStyle/>
          <a:p>
            <a:pPr marL="0" indent="0">
              <a:buNone/>
            </a:pPr>
            <a:r>
              <a:rPr lang="en-US" sz="1300" dirty="0">
                <a:solidFill>
                  <a:srgbClr val="2B3A3A"/>
                </a:solidFill>
                <a:latin typeface="Calibri" pitchFamily="34" charset="0"/>
                <a:ea typeface="Calibri" pitchFamily="34" charset="-122"/>
                <a:cs typeface="Calibri" pitchFamily="34" charset="-120"/>
              </a:rPr>
              <a:t>A reusable tool that can be extended for larger, real-world biological datasets</a:t>
            </a:r>
            <a:endParaRPr lang="en-US" sz="1300" dirty="0"/>
          </a:p>
        </p:txBody>
      </p:sp>
      <p:sp>
        <p:nvSpPr>
          <p:cNvPr id="20" name="Shape 18"/>
          <p:cNvSpPr/>
          <p:nvPr/>
        </p:nvSpPr>
        <p:spPr>
          <a:xfrm>
            <a:off x="8229600" y="1920240"/>
            <a:ext cx="3429000" cy="3383280"/>
          </a:xfrm>
          <a:prstGeom prst="roundRect">
            <a:avLst>
              <a:gd name="adj" fmla="val 2703"/>
            </a:avLst>
          </a:prstGeom>
          <a:solidFill>
            <a:srgbClr val="16324F"/>
          </a:solidFill>
          <a:ln/>
        </p:spPr>
      </p:sp>
      <p:sp>
        <p:nvSpPr>
          <p:cNvPr id="21" name="Text 19"/>
          <p:cNvSpPr/>
          <p:nvPr/>
        </p:nvSpPr>
        <p:spPr>
          <a:xfrm>
            <a:off x="8458200" y="2103120"/>
            <a:ext cx="3017520" cy="320040"/>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Sample Alignment</a:t>
            </a:r>
            <a:endParaRPr lang="en-US" sz="1300" dirty="0"/>
          </a:p>
        </p:txBody>
      </p:sp>
      <p:sp>
        <p:nvSpPr>
          <p:cNvPr id="22" name="Text 20"/>
          <p:cNvSpPr/>
          <p:nvPr/>
        </p:nvSpPr>
        <p:spPr>
          <a:xfrm>
            <a:off x="8458200" y="2514600"/>
            <a:ext cx="3017520" cy="640080"/>
          </a:xfrm>
          <a:prstGeom prst="rect">
            <a:avLst/>
          </a:prstGeom>
          <a:noFill/>
          <a:ln/>
        </p:spPr>
        <p:txBody>
          <a:bodyPr wrap="square" rtlCol="0" anchor="ctr"/>
          <a:lstStyle/>
          <a:p>
            <a:pPr marL="0" indent="0">
              <a:lnSpc>
                <a:spcPct val="130000"/>
              </a:lnSpc>
              <a:buNone/>
            </a:pPr>
            <a:r>
              <a:rPr lang="en-US" sz="1300" dirty="0">
                <a:solidFill>
                  <a:srgbClr val="CFE3E0"/>
                </a:solidFill>
                <a:latin typeface="Courier New" pitchFamily="34" charset="0"/>
                <a:ea typeface="Courier New" pitchFamily="34" charset="-122"/>
                <a:cs typeface="Courier New" pitchFamily="34" charset="-120"/>
              </a:rPr>
              <a:t>Seq A:  A C G T</a:t>
            </a:r>
            <a:endParaRPr lang="en-US" sz="1300" dirty="0"/>
          </a:p>
          <a:p>
            <a:pPr marL="0" indent="0">
              <a:lnSpc>
                <a:spcPct val="130000"/>
              </a:lnSpc>
              <a:buNone/>
            </a:pPr>
            <a:r>
              <a:rPr lang="en-US" sz="1300" dirty="0">
                <a:solidFill>
                  <a:srgbClr val="CFE3E0"/>
                </a:solidFill>
                <a:latin typeface="Courier New" pitchFamily="34" charset="0"/>
                <a:ea typeface="Courier New" pitchFamily="34" charset="-122"/>
                <a:cs typeface="Courier New" pitchFamily="34" charset="-120"/>
              </a:rPr>
              <a:t>Seq B:  A   G T</a:t>
            </a:r>
            <a:endParaRPr lang="en-US" sz="1300" dirty="0"/>
          </a:p>
        </p:txBody>
      </p:sp>
      <p:sp>
        <p:nvSpPr>
          <p:cNvPr id="23" name="Shape 21"/>
          <p:cNvSpPr/>
          <p:nvPr/>
        </p:nvSpPr>
        <p:spPr>
          <a:xfrm>
            <a:off x="8458200" y="3200400"/>
            <a:ext cx="3017520" cy="0"/>
          </a:xfrm>
          <a:prstGeom prst="line">
            <a:avLst/>
          </a:prstGeom>
          <a:noFill/>
          <a:ln w="12700">
            <a:solidFill>
              <a:srgbClr val="3A6B78"/>
            </a:solidFill>
            <a:prstDash val="solid"/>
          </a:ln>
        </p:spPr>
      </p:sp>
      <p:sp>
        <p:nvSpPr>
          <p:cNvPr id="24" name="Text 22"/>
          <p:cNvSpPr/>
          <p:nvPr/>
        </p:nvSpPr>
        <p:spPr>
          <a:xfrm>
            <a:off x="8458200" y="3337560"/>
            <a:ext cx="3017520" cy="274320"/>
          </a:xfrm>
          <a:prstGeom prst="rect">
            <a:avLst/>
          </a:prstGeom>
          <a:noFill/>
          <a:ln/>
        </p:spPr>
        <p:txBody>
          <a:bodyPr wrap="square"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Optimal Alignment:</a:t>
            </a:r>
            <a:endParaRPr lang="en-US" sz="1100" dirty="0"/>
          </a:p>
        </p:txBody>
      </p:sp>
      <p:sp>
        <p:nvSpPr>
          <p:cNvPr id="25" name="Text 23"/>
          <p:cNvSpPr/>
          <p:nvPr/>
        </p:nvSpPr>
        <p:spPr>
          <a:xfrm>
            <a:off x="8458200" y="3639312"/>
            <a:ext cx="3017520" cy="594360"/>
          </a:xfrm>
          <a:prstGeom prst="rect">
            <a:avLst/>
          </a:prstGeom>
          <a:noFill/>
          <a:ln/>
        </p:spPr>
        <p:txBody>
          <a:bodyPr wrap="square" rtlCol="0" anchor="ctr"/>
          <a:lstStyle/>
          <a:p>
            <a:pPr marL="0" indent="0">
              <a:lnSpc>
                <a:spcPct val="140000"/>
              </a:lnSpc>
              <a:buNone/>
            </a:pPr>
            <a:r>
              <a:rPr lang="en-US" sz="1400" dirty="0">
                <a:solidFill>
                  <a:srgbClr val="FFFFFF"/>
                </a:solidFill>
                <a:latin typeface="Courier New" pitchFamily="34" charset="0"/>
                <a:ea typeface="Courier New" pitchFamily="34" charset="-122"/>
                <a:cs typeface="Courier New" pitchFamily="34" charset="-120"/>
              </a:rPr>
              <a:t>A C G T</a:t>
            </a:r>
            <a:endParaRPr lang="en-US" sz="1400" dirty="0"/>
          </a:p>
          <a:p>
            <a:pPr marL="0" indent="0">
              <a:lnSpc>
                <a:spcPct val="140000"/>
              </a:lnSpc>
              <a:buNone/>
            </a:pPr>
            <a:r>
              <a:rPr lang="en-US" sz="1400" dirty="0">
                <a:solidFill>
                  <a:srgbClr val="FFFFFF"/>
                </a:solidFill>
                <a:latin typeface="Courier New" pitchFamily="34" charset="0"/>
                <a:ea typeface="Courier New" pitchFamily="34" charset="-122"/>
                <a:cs typeface="Courier New" pitchFamily="34" charset="-120"/>
              </a:rPr>
              <a:t>A - G T</a:t>
            </a:r>
            <a:endParaRPr lang="en-US" sz="1400" dirty="0"/>
          </a:p>
        </p:txBody>
      </p:sp>
      <p:sp>
        <p:nvSpPr>
          <p:cNvPr id="26" name="Text 24"/>
          <p:cNvSpPr/>
          <p:nvPr/>
        </p:nvSpPr>
        <p:spPr>
          <a:xfrm>
            <a:off x="8458200" y="4297680"/>
            <a:ext cx="3017520" cy="365760"/>
          </a:xfrm>
          <a:prstGeom prst="rect">
            <a:avLst/>
          </a:prstGeom>
          <a:noFill/>
          <a:ln/>
        </p:spPr>
        <p:txBody>
          <a:bodyPr wrap="square" rtlCol="0" anchor="ctr"/>
          <a:lstStyle/>
          <a:p>
            <a:pPr marL="0" indent="0">
              <a:buNone/>
            </a:pPr>
            <a:r>
              <a:rPr lang="en-US" sz="950" i="1" dirty="0">
                <a:solidFill>
                  <a:srgbClr val="9FB8C7"/>
                </a:solidFill>
                <a:latin typeface="Calibri" pitchFamily="34" charset="0"/>
                <a:ea typeface="Calibri" pitchFamily="34" charset="-122"/>
                <a:cs typeface="Calibri" pitchFamily="34" charset="-120"/>
              </a:rPr>
              <a:t>Match = +1, Mismatch = -1, Gap = -2  →  Score = 1</a:t>
            </a:r>
            <a:endParaRPr lang="en-US" sz="950" dirty="0"/>
          </a:p>
        </p:txBody>
      </p:sp>
      <p:sp>
        <p:nvSpPr>
          <p:cNvPr id="27" name="Text 25"/>
          <p:cNvSpPr/>
          <p:nvPr/>
        </p:nvSpPr>
        <p:spPr>
          <a:xfrm>
            <a:off x="822960" y="5806440"/>
            <a:ext cx="10515600" cy="457200"/>
          </a:xfrm>
          <a:prstGeom prst="rect">
            <a:avLst/>
          </a:prstGeom>
          <a:noFill/>
          <a:ln/>
        </p:spPr>
        <p:txBody>
          <a:bodyPr wrap="square" rtlCol="0" anchor="ctr"/>
          <a:lstStyle/>
          <a:p>
            <a:pPr marL="0" indent="0">
              <a:buNone/>
            </a:pPr>
            <a:r>
              <a:rPr lang="en-US" sz="1200" i="1" dirty="0">
                <a:solidFill>
                  <a:srgbClr val="5A6B6B"/>
                </a:solidFill>
                <a:latin typeface="Calibri" pitchFamily="34" charset="0"/>
                <a:ea typeface="Calibri" pitchFamily="34" charset="-122"/>
                <a:cs typeface="Calibri" pitchFamily="34" charset="-120"/>
              </a:rPr>
              <a:t>Conclusion: The project connects core DSA concepts to a practical, real-world bioinformatics use case.</a:t>
            </a:r>
            <a:endParaRPr lang="en-US" sz="1200" dirty="0"/>
          </a:p>
        </p:txBody>
      </p:sp>
      <p:sp>
        <p:nvSpPr>
          <p:cNvPr id="28" name="Text 2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6B"/>
                </a:solidFill>
                <a:latin typeface="Calibri" pitchFamily="34" charset="0"/>
                <a:ea typeface="Calibri" pitchFamily="34" charset="-122"/>
                <a:cs typeface="Calibri" pitchFamily="34" charset="-120"/>
              </a:rPr>
              <a:t>DNA &amp; Protein Sequence Alignment — Needleman–Wunsch</a:t>
            </a:r>
            <a:endParaRPr lang="en-US" sz="900" dirty="0"/>
          </a:p>
        </p:txBody>
      </p:sp>
      <p:sp>
        <p:nvSpPr>
          <p:cNvPr id="29" name="Text 27"/>
          <p:cNvSpPr/>
          <p:nvPr/>
        </p:nvSpPr>
        <p:spPr>
          <a:xfrm>
            <a:off x="11365992" y="6473952"/>
            <a:ext cx="457200" cy="274320"/>
          </a:xfrm>
          <a:prstGeom prst="rect">
            <a:avLst/>
          </a:prstGeom>
          <a:noFill/>
          <a:ln/>
        </p:spPr>
        <p:txBody>
          <a:bodyPr wrap="square" rtlCol="0" anchor="ctr"/>
          <a:lstStyle/>
          <a:p>
            <a:pPr marL="0" indent="0" algn="r">
              <a:buNone/>
            </a:pPr>
            <a:r>
              <a:rPr lang="en-US" sz="900" dirty="0">
                <a:solidFill>
                  <a:srgbClr val="5A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31</cp:revision>
  <dcterms:created xsi:type="dcterms:W3CDTF">2026-08-21T13:32:53Z</dcterms:created>
  <dcterms:modified xsi:type="dcterms:W3CDTF">2026-08-28T03:29:21Z</dcterms:modified>
</cp:coreProperties>
</file>